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slide+xml" PartName="/ppt/slides/slide15.xml"/>
  <Override ContentType="application/vnd.openxmlformats-officedocument.presentationml.slide+xml" PartName="/ppt/slides/slide16.xml"/>
  <Override ContentType="application/vnd.openxmlformats-officedocument.presentationml.slide+xml" PartName="/ppt/slides/slide17.xml"/>
  <Override ContentType="application/vnd.openxmlformats-officedocument.presentationml.slide+xml" PartName="/ppt/slides/slide18.xml"/>
  <Override ContentType="application/vnd.openxmlformats-officedocument.presentationml.slide+xml" PartName="/ppt/slides/slide19.xml"/>
  <Override ContentType="application/vnd.openxmlformats-officedocument.presentationml.slide+xml" PartName="/ppt/slides/slide20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</p:sldIdLst>
  <p:sldSz cx="18288000" cy="10287000"/>
  <p:notesSz cx="6858000" cy="9144000"/>
  <p:embeddedFontLst>
    <p:embeddedFont>
      <p:font typeface="Fira Sans Medium" charset="1" panose="020B0603050000020004"/>
      <p:regular r:id="rId26"/>
    </p:embeddedFont>
    <p:embeddedFont>
      <p:font typeface="Fira Sans Medium Bold" charset="1" panose="020B0603050000020004"/>
      <p:regular r:id="rId27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19" Target="slides/slide14.xml" Type="http://schemas.openxmlformats.org/officeDocument/2006/relationships/slide"/><Relationship Id="rId2" Target="presProps.xml" Type="http://schemas.openxmlformats.org/officeDocument/2006/relationships/presProps"/><Relationship Id="rId20" Target="slides/slide15.xml" Type="http://schemas.openxmlformats.org/officeDocument/2006/relationships/slide"/><Relationship Id="rId21" Target="slides/slide16.xml" Type="http://schemas.openxmlformats.org/officeDocument/2006/relationships/slide"/><Relationship Id="rId22" Target="slides/slide17.xml" Type="http://schemas.openxmlformats.org/officeDocument/2006/relationships/slide"/><Relationship Id="rId23" Target="slides/slide18.xml" Type="http://schemas.openxmlformats.org/officeDocument/2006/relationships/slide"/><Relationship Id="rId24" Target="slides/slide19.xml" Type="http://schemas.openxmlformats.org/officeDocument/2006/relationships/slide"/><Relationship Id="rId25" Target="slides/slide20.xml" Type="http://schemas.openxmlformats.org/officeDocument/2006/relationships/slide"/><Relationship Id="rId26" Target="fonts/font26.fntdata" Type="http://schemas.openxmlformats.org/officeDocument/2006/relationships/font"/><Relationship Id="rId27" Target="fonts/font27.fntdata" Type="http://schemas.openxmlformats.org/officeDocument/2006/relationships/font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Relationship Id="rId3" Target="../media/image3.sv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Relationship Id="rId3" Target="../media/image3.sv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Relationship Id="rId3" Target="../media/image3.sv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Relationship Id="rId3" Target="../media/image3.sv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png" Type="http://schemas.openxmlformats.org/officeDocument/2006/relationships/image"/><Relationship Id="rId3" Target="../media/image5.svg" Type="http://schemas.openxmlformats.org/officeDocument/2006/relationships/image"/><Relationship Id="rId4" Target="../media/image6.png" Type="http://schemas.openxmlformats.org/officeDocument/2006/relationships/image"/><Relationship Id="rId5" Target="../media/image7.sv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png" Type="http://schemas.openxmlformats.org/officeDocument/2006/relationships/image"/><Relationship Id="rId3" Target="../media/image5.svg" Type="http://schemas.openxmlformats.org/officeDocument/2006/relationships/image"/><Relationship Id="rId4" Target="../media/image6.png" Type="http://schemas.openxmlformats.org/officeDocument/2006/relationships/image"/><Relationship Id="rId5" Target="../media/image7.sv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png" Type="http://schemas.openxmlformats.org/officeDocument/2006/relationships/image"/><Relationship Id="rId3" Target="../media/image5.svg" Type="http://schemas.openxmlformats.org/officeDocument/2006/relationships/image"/><Relationship Id="rId4" Target="../media/image6.png" Type="http://schemas.openxmlformats.org/officeDocument/2006/relationships/image"/><Relationship Id="rId5" Target="../media/image7.sv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png" Type="http://schemas.openxmlformats.org/officeDocument/2006/relationships/image"/><Relationship Id="rId3" Target="../media/image5.svg" Type="http://schemas.openxmlformats.org/officeDocument/2006/relationships/image"/><Relationship Id="rId4" Target="../media/image6.png" Type="http://schemas.openxmlformats.org/officeDocument/2006/relationships/image"/><Relationship Id="rId5" Target="../media/image7.sv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png" Type="http://schemas.openxmlformats.org/officeDocument/2006/relationships/image"/><Relationship Id="rId3" Target="../media/image5.svg" Type="http://schemas.openxmlformats.org/officeDocument/2006/relationships/image"/><Relationship Id="rId4" Target="../media/image6.png" Type="http://schemas.openxmlformats.org/officeDocument/2006/relationships/image"/><Relationship Id="rId5" Target="../media/image7.sv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png" Type="http://schemas.openxmlformats.org/officeDocument/2006/relationships/image"/><Relationship Id="rId3" Target="../media/image5.svg" Type="http://schemas.openxmlformats.org/officeDocument/2006/relationships/image"/><Relationship Id="rId4" Target="../media/image6.png" Type="http://schemas.openxmlformats.org/officeDocument/2006/relationships/image"/><Relationship Id="rId5" Target="../media/image7.svg" Type="http://schemas.openxmlformats.org/officeDocument/2006/relationships/image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png" Type="http://schemas.openxmlformats.org/officeDocument/2006/relationships/image"/><Relationship Id="rId3" Target="../media/image5.svg" Type="http://schemas.openxmlformats.org/officeDocument/2006/relationships/image"/></Relationships>
</file>

<file path=ppt/slides/_rels/slide1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png" Type="http://schemas.openxmlformats.org/officeDocument/2006/relationships/image"/><Relationship Id="rId3" Target="../media/image5.svg" Type="http://schemas.openxmlformats.org/officeDocument/2006/relationships/image"/></Relationships>
</file>

<file path=ppt/slides/_rels/slide1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png" Type="http://schemas.openxmlformats.org/officeDocument/2006/relationships/image"/><Relationship Id="rId3" Target="../media/image5.svg" Type="http://schemas.openxmlformats.org/officeDocument/2006/relationships/image"/><Relationship Id="rId4" Target="../media/image6.png" Type="http://schemas.openxmlformats.org/officeDocument/2006/relationships/image"/><Relationship Id="rId5" Target="../media/image7.svg" Type="http://schemas.openxmlformats.org/officeDocument/2006/relationships/image"/></Relationships>
</file>

<file path=ppt/slides/_rels/slide1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png" Type="http://schemas.openxmlformats.org/officeDocument/2006/relationships/image"/><Relationship Id="rId3" Target="../media/image5.svg" Type="http://schemas.openxmlformats.org/officeDocument/2006/relationships/image"/><Relationship Id="rId4" Target="../media/image6.png" Type="http://schemas.openxmlformats.org/officeDocument/2006/relationships/image"/><Relationship Id="rId5" Target="../media/image7.svg" Type="http://schemas.openxmlformats.org/officeDocument/2006/relationships/image"/></Relationships>
</file>

<file path=ppt/slides/_rels/slide1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png" Type="http://schemas.openxmlformats.org/officeDocument/2006/relationships/image"/><Relationship Id="rId3" Target="../media/image5.svg" Type="http://schemas.openxmlformats.org/officeDocument/2006/relationships/image"/></Relationships>
</file>

<file path=ppt/slides/_rels/slide1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png" Type="http://schemas.openxmlformats.org/officeDocument/2006/relationships/image"/><Relationship Id="rId3" Target="../media/image5.svg" Type="http://schemas.openxmlformats.org/officeDocument/2006/relationships/image"/><Relationship Id="rId4" Target="../media/image6.png" Type="http://schemas.openxmlformats.org/officeDocument/2006/relationships/image"/><Relationship Id="rId5" Target="../media/image7.svg" Type="http://schemas.openxmlformats.org/officeDocument/2006/relationships/image"/></Relationships>
</file>

<file path=ppt/slides/_rels/slide1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png" Type="http://schemas.openxmlformats.org/officeDocument/2006/relationships/image"/><Relationship Id="rId3" Target="../media/image5.svg" Type="http://schemas.openxmlformats.org/officeDocument/2006/relationships/image"/><Relationship Id="rId4" Target="../media/image6.png" Type="http://schemas.openxmlformats.org/officeDocument/2006/relationships/image"/><Relationship Id="rId5" Target="../media/image7.svg" Type="http://schemas.openxmlformats.org/officeDocument/2006/relationships/image"/></Relationships>
</file>

<file path=ppt/slides/_rels/slide2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4F4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4328902" y="2317173"/>
            <a:ext cx="7321033" cy="6340049"/>
            <a:chOff x="0" y="0"/>
            <a:chExt cx="3619627" cy="3134614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3619627" cy="3134614"/>
            </a:xfrm>
            <a:custGeom>
              <a:avLst/>
              <a:gdLst/>
              <a:ahLst/>
              <a:cxnLst/>
              <a:rect r="r" b="b" t="t" l="l"/>
              <a:pathLst>
                <a:path h="3134614" w="3619627">
                  <a:moveTo>
                    <a:pt x="3619627" y="1567307"/>
                  </a:moveTo>
                  <a:lnTo>
                    <a:pt x="2714752" y="3134614"/>
                  </a:lnTo>
                  <a:lnTo>
                    <a:pt x="904875" y="3134614"/>
                  </a:lnTo>
                  <a:lnTo>
                    <a:pt x="0" y="1567307"/>
                  </a:lnTo>
                  <a:lnTo>
                    <a:pt x="904875" y="0"/>
                  </a:lnTo>
                  <a:lnTo>
                    <a:pt x="2714625" y="0"/>
                  </a:lnTo>
                  <a:lnTo>
                    <a:pt x="3619627" y="1567307"/>
                  </a:lnTo>
                  <a:close/>
                </a:path>
              </a:pathLst>
            </a:custGeom>
            <a:solidFill>
              <a:srgbClr val="004651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12122944" y="7035126"/>
            <a:ext cx="4970154" cy="4304177"/>
            <a:chOff x="0" y="0"/>
            <a:chExt cx="3619627" cy="3134614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3619627" cy="3134614"/>
            </a:xfrm>
            <a:custGeom>
              <a:avLst/>
              <a:gdLst/>
              <a:ahLst/>
              <a:cxnLst/>
              <a:rect r="r" b="b" t="t" l="l"/>
              <a:pathLst>
                <a:path h="3134614" w="3619627">
                  <a:moveTo>
                    <a:pt x="3619627" y="1567307"/>
                  </a:moveTo>
                  <a:lnTo>
                    <a:pt x="2714752" y="3134614"/>
                  </a:lnTo>
                  <a:lnTo>
                    <a:pt x="904875" y="3134614"/>
                  </a:lnTo>
                  <a:lnTo>
                    <a:pt x="0" y="1567307"/>
                  </a:lnTo>
                  <a:lnTo>
                    <a:pt x="904875" y="0"/>
                  </a:lnTo>
                  <a:lnTo>
                    <a:pt x="2714625" y="0"/>
                  </a:lnTo>
                  <a:lnTo>
                    <a:pt x="3619627" y="1567307"/>
                  </a:lnTo>
                  <a:close/>
                </a:path>
              </a:pathLst>
            </a:custGeom>
            <a:solidFill>
              <a:srgbClr val="00A181"/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12336342" y="5954842"/>
            <a:ext cx="2271679" cy="1967285"/>
            <a:chOff x="0" y="0"/>
            <a:chExt cx="3619627" cy="3134614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3619627" cy="3134614"/>
            </a:xfrm>
            <a:custGeom>
              <a:avLst/>
              <a:gdLst/>
              <a:ahLst/>
              <a:cxnLst/>
              <a:rect r="r" b="b" t="t" l="l"/>
              <a:pathLst>
                <a:path h="3134614" w="3619627">
                  <a:moveTo>
                    <a:pt x="3619627" y="1567307"/>
                  </a:moveTo>
                  <a:lnTo>
                    <a:pt x="2714752" y="3134614"/>
                  </a:lnTo>
                  <a:lnTo>
                    <a:pt x="904875" y="3134614"/>
                  </a:lnTo>
                  <a:lnTo>
                    <a:pt x="0" y="1567307"/>
                  </a:lnTo>
                  <a:lnTo>
                    <a:pt x="904875" y="0"/>
                  </a:lnTo>
                  <a:lnTo>
                    <a:pt x="2714625" y="0"/>
                  </a:lnTo>
                  <a:lnTo>
                    <a:pt x="3619627" y="1567307"/>
                  </a:lnTo>
                  <a:close/>
                </a:path>
              </a:pathLst>
            </a:custGeom>
            <a:solidFill>
              <a:srgbClr val="A4E473"/>
            </a:solidFill>
          </p:spPr>
        </p:sp>
      </p:grpSp>
      <p:grpSp>
        <p:nvGrpSpPr>
          <p:cNvPr name="Group 8" id="8"/>
          <p:cNvGrpSpPr/>
          <p:nvPr/>
        </p:nvGrpSpPr>
        <p:grpSpPr>
          <a:xfrm rot="0">
            <a:off x="13737770" y="373605"/>
            <a:ext cx="3799619" cy="3290488"/>
            <a:chOff x="0" y="0"/>
            <a:chExt cx="3619627" cy="3134614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3619627" cy="3134614"/>
            </a:xfrm>
            <a:custGeom>
              <a:avLst/>
              <a:gdLst/>
              <a:ahLst/>
              <a:cxnLst/>
              <a:rect r="r" b="b" t="t" l="l"/>
              <a:pathLst>
                <a:path h="3134614" w="3619627">
                  <a:moveTo>
                    <a:pt x="3619627" y="1567307"/>
                  </a:moveTo>
                  <a:lnTo>
                    <a:pt x="2714752" y="3134614"/>
                  </a:lnTo>
                  <a:lnTo>
                    <a:pt x="904875" y="3134614"/>
                  </a:lnTo>
                  <a:lnTo>
                    <a:pt x="0" y="1567307"/>
                  </a:lnTo>
                  <a:lnTo>
                    <a:pt x="904875" y="0"/>
                  </a:lnTo>
                  <a:lnTo>
                    <a:pt x="2714625" y="0"/>
                  </a:lnTo>
                  <a:lnTo>
                    <a:pt x="3619627" y="1567307"/>
                  </a:lnTo>
                  <a:close/>
                </a:path>
              </a:pathLst>
            </a:custGeom>
            <a:solidFill>
              <a:srgbClr val="00A181"/>
            </a:solidFill>
          </p:spPr>
        </p:sp>
      </p:grpSp>
      <p:sp>
        <p:nvSpPr>
          <p:cNvPr name="Freeform 10" id="10"/>
          <p:cNvSpPr/>
          <p:nvPr/>
        </p:nvSpPr>
        <p:spPr>
          <a:xfrm flipH="false" flipV="false" rot="0">
            <a:off x="811066" y="483204"/>
            <a:ext cx="1176416" cy="630559"/>
          </a:xfrm>
          <a:custGeom>
            <a:avLst/>
            <a:gdLst/>
            <a:ahLst/>
            <a:cxnLst/>
            <a:rect r="r" b="b" t="t" l="l"/>
            <a:pathLst>
              <a:path h="630559" w="1176416">
                <a:moveTo>
                  <a:pt x="0" y="0"/>
                </a:moveTo>
                <a:lnTo>
                  <a:pt x="1176416" y="0"/>
                </a:lnTo>
                <a:lnTo>
                  <a:pt x="1176416" y="630558"/>
                </a:lnTo>
                <a:lnTo>
                  <a:pt x="0" y="63055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11" id="11"/>
          <p:cNvSpPr txBox="true"/>
          <p:nvPr/>
        </p:nvSpPr>
        <p:spPr>
          <a:xfrm rot="0">
            <a:off x="2250488" y="490827"/>
            <a:ext cx="8326520" cy="6229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040"/>
              </a:lnSpc>
              <a:spcBef>
                <a:spcPct val="0"/>
              </a:spcBef>
            </a:pPr>
            <a:r>
              <a:rPr lang="en-US" sz="3600">
                <a:solidFill>
                  <a:srgbClr val="000000"/>
                </a:solidFill>
                <a:latin typeface="Fira Sans Medium"/>
                <a:ea typeface="Fira Sans Medium"/>
                <a:cs typeface="Fira Sans Medium"/>
                <a:sym typeface="Fira Sans Medium"/>
              </a:rPr>
              <a:t>Technical University of Munich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811066" y="2829899"/>
            <a:ext cx="10888548" cy="16097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00"/>
              </a:lnSpc>
            </a:pPr>
            <a:r>
              <a:rPr lang="en-US" sz="3500">
                <a:solidFill>
                  <a:srgbClr val="000000"/>
                </a:solidFill>
                <a:latin typeface="Fira Sans Medium"/>
                <a:ea typeface="Fira Sans Medium"/>
                <a:cs typeface="Fira Sans Medium"/>
                <a:sym typeface="Fira Sans Medium"/>
              </a:rPr>
              <a:t>A Hand Movement Capture and Replay System for Subject Guidance in Motor Studies Using a Realistic 3D Hand Model and Camera Recordings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811066" y="6435290"/>
            <a:ext cx="6113420" cy="21748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99"/>
              </a:lnSpc>
            </a:pPr>
            <a:r>
              <a:rPr lang="en-US" sz="2499" b="true">
                <a:solidFill>
                  <a:srgbClr val="000000"/>
                </a:solidFill>
                <a:latin typeface="Fira Sans Medium Bold"/>
                <a:ea typeface="Fira Sans Medium Bold"/>
                <a:cs typeface="Fira Sans Medium Bold"/>
                <a:sym typeface="Fira Sans Medium Bold"/>
              </a:rPr>
              <a:t>Julian -</a:t>
            </a:r>
          </a:p>
          <a:p>
            <a:pPr algn="l">
              <a:lnSpc>
                <a:spcPts val="3499"/>
              </a:lnSpc>
            </a:pPr>
            <a:r>
              <a:rPr lang="en-US" sz="2499" b="true">
                <a:solidFill>
                  <a:srgbClr val="000000"/>
                </a:solidFill>
                <a:latin typeface="Fira Sans Medium Bold"/>
                <a:ea typeface="Fira Sans Medium Bold"/>
                <a:cs typeface="Fira Sans Medium Bold"/>
                <a:sym typeface="Fira Sans Medium Bold"/>
              </a:rPr>
              <a:t>Informatics : Games Engineering</a:t>
            </a:r>
          </a:p>
          <a:p>
            <a:pPr algn="l">
              <a:lnSpc>
                <a:spcPts val="3499"/>
              </a:lnSpc>
            </a:pPr>
            <a:r>
              <a:rPr lang="en-US" sz="2499" b="true">
                <a:solidFill>
                  <a:srgbClr val="000000"/>
                </a:solidFill>
                <a:latin typeface="Fira Sans Medium Bold"/>
                <a:ea typeface="Fira Sans Medium Bold"/>
                <a:cs typeface="Fira Sans Medium Bold"/>
                <a:sym typeface="Fira Sans Medium Bold"/>
              </a:rPr>
              <a:t>Bachelor Thesis</a:t>
            </a:r>
          </a:p>
          <a:p>
            <a:pPr algn="l">
              <a:lnSpc>
                <a:spcPts val="3499"/>
              </a:lnSpc>
            </a:pPr>
            <a:r>
              <a:rPr lang="en-US" sz="2499" b="true">
                <a:solidFill>
                  <a:srgbClr val="000000"/>
                </a:solidFill>
                <a:latin typeface="Fira Sans Medium Bold"/>
                <a:ea typeface="Fira Sans Medium Bold"/>
                <a:cs typeface="Fira Sans Medium Bold"/>
                <a:sym typeface="Fira Sans Medium Bold"/>
              </a:rPr>
              <a:t>2026</a:t>
            </a:r>
          </a:p>
          <a:p>
            <a:pPr algn="l">
              <a:lnSpc>
                <a:spcPts val="3499"/>
              </a:lnSpc>
            </a:pP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4F4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4151770" y="4201140"/>
            <a:ext cx="7027514" cy="6085860"/>
            <a:chOff x="0" y="0"/>
            <a:chExt cx="3619627" cy="3134614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3619627" cy="3134614"/>
            </a:xfrm>
            <a:custGeom>
              <a:avLst/>
              <a:gdLst/>
              <a:ahLst/>
              <a:cxnLst/>
              <a:rect r="r" b="b" t="t" l="l"/>
              <a:pathLst>
                <a:path h="3134614" w="3619627">
                  <a:moveTo>
                    <a:pt x="3619627" y="1567307"/>
                  </a:moveTo>
                  <a:lnTo>
                    <a:pt x="2714752" y="3134614"/>
                  </a:lnTo>
                  <a:lnTo>
                    <a:pt x="904875" y="3134614"/>
                  </a:lnTo>
                  <a:lnTo>
                    <a:pt x="0" y="1567307"/>
                  </a:lnTo>
                  <a:lnTo>
                    <a:pt x="904875" y="0"/>
                  </a:lnTo>
                  <a:lnTo>
                    <a:pt x="2714625" y="0"/>
                  </a:lnTo>
                  <a:lnTo>
                    <a:pt x="3619627" y="1567307"/>
                  </a:lnTo>
                  <a:close/>
                </a:path>
              </a:pathLst>
            </a:custGeom>
            <a:solidFill>
              <a:srgbClr val="004651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15184904" y="-374200"/>
            <a:ext cx="4961246" cy="4296462"/>
            <a:chOff x="0" y="0"/>
            <a:chExt cx="3619627" cy="3134614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3619627" cy="3134614"/>
            </a:xfrm>
            <a:custGeom>
              <a:avLst/>
              <a:gdLst/>
              <a:ahLst/>
              <a:cxnLst/>
              <a:rect r="r" b="b" t="t" l="l"/>
              <a:pathLst>
                <a:path h="3134614" w="3619627">
                  <a:moveTo>
                    <a:pt x="3619627" y="1567307"/>
                  </a:moveTo>
                  <a:lnTo>
                    <a:pt x="2714752" y="3134614"/>
                  </a:lnTo>
                  <a:lnTo>
                    <a:pt x="904875" y="3134614"/>
                  </a:lnTo>
                  <a:lnTo>
                    <a:pt x="0" y="1567307"/>
                  </a:lnTo>
                  <a:lnTo>
                    <a:pt x="904875" y="0"/>
                  </a:lnTo>
                  <a:lnTo>
                    <a:pt x="2714625" y="0"/>
                  </a:lnTo>
                  <a:lnTo>
                    <a:pt x="3619627" y="1567307"/>
                  </a:lnTo>
                  <a:close/>
                </a:path>
              </a:pathLst>
            </a:custGeom>
            <a:solidFill>
              <a:srgbClr val="00A181"/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-3609959" y="6759445"/>
            <a:ext cx="7219917" cy="6252482"/>
            <a:chOff x="0" y="0"/>
            <a:chExt cx="3619627" cy="3134614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3619627" cy="3134614"/>
            </a:xfrm>
            <a:custGeom>
              <a:avLst/>
              <a:gdLst/>
              <a:ahLst/>
              <a:cxnLst/>
              <a:rect r="r" b="b" t="t" l="l"/>
              <a:pathLst>
                <a:path h="3134614" w="3619627">
                  <a:moveTo>
                    <a:pt x="3619627" y="1567307"/>
                  </a:moveTo>
                  <a:lnTo>
                    <a:pt x="2714752" y="3134614"/>
                  </a:lnTo>
                  <a:lnTo>
                    <a:pt x="904875" y="3134614"/>
                  </a:lnTo>
                  <a:lnTo>
                    <a:pt x="0" y="1567307"/>
                  </a:lnTo>
                  <a:lnTo>
                    <a:pt x="904875" y="0"/>
                  </a:lnTo>
                  <a:lnTo>
                    <a:pt x="2714625" y="0"/>
                  </a:lnTo>
                  <a:lnTo>
                    <a:pt x="3619627" y="1567307"/>
                  </a:lnTo>
                  <a:close/>
                </a:path>
              </a:pathLst>
            </a:custGeom>
            <a:solidFill>
              <a:srgbClr val="A4E473"/>
            </a:solidFill>
          </p:spPr>
        </p:sp>
      </p:grpSp>
      <p:sp>
        <p:nvSpPr>
          <p:cNvPr name="TextBox 8" id="8"/>
          <p:cNvSpPr txBox="true"/>
          <p:nvPr/>
        </p:nvSpPr>
        <p:spPr>
          <a:xfrm rot="0">
            <a:off x="-50249" y="637655"/>
            <a:ext cx="15184904" cy="12001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799"/>
              </a:lnSpc>
            </a:pPr>
            <a:r>
              <a:rPr lang="en-US" sz="3999" spc="-39" u="sng">
                <a:solidFill>
                  <a:srgbClr val="000000"/>
                </a:solidFill>
                <a:latin typeface="Fira Sans Medium"/>
                <a:ea typeface="Fira Sans Medium"/>
                <a:cs typeface="Fira Sans Medium"/>
                <a:sym typeface="Fira Sans Medium"/>
              </a:rPr>
              <a:t>Motivation and Problem Statement</a:t>
            </a:r>
          </a:p>
          <a:p>
            <a:pPr algn="ctr">
              <a:lnSpc>
                <a:spcPts val="4799"/>
              </a:lnSpc>
              <a:spcBef>
                <a:spcPct val="0"/>
              </a:spcBef>
            </a:pPr>
          </a:p>
        </p:txBody>
      </p:sp>
      <p:grpSp>
        <p:nvGrpSpPr>
          <p:cNvPr name="Group 9" id="9"/>
          <p:cNvGrpSpPr/>
          <p:nvPr/>
        </p:nvGrpSpPr>
        <p:grpSpPr>
          <a:xfrm rot="0">
            <a:off x="-1333799" y="5143500"/>
            <a:ext cx="2667599" cy="2310153"/>
            <a:chOff x="0" y="0"/>
            <a:chExt cx="3619627" cy="3134614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3619627" cy="3134614"/>
            </a:xfrm>
            <a:custGeom>
              <a:avLst/>
              <a:gdLst/>
              <a:ahLst/>
              <a:cxnLst/>
              <a:rect r="r" b="b" t="t" l="l"/>
              <a:pathLst>
                <a:path h="3134614" w="3619627">
                  <a:moveTo>
                    <a:pt x="3619627" y="1567307"/>
                  </a:moveTo>
                  <a:lnTo>
                    <a:pt x="2714752" y="3134614"/>
                  </a:lnTo>
                  <a:lnTo>
                    <a:pt x="904875" y="3134614"/>
                  </a:lnTo>
                  <a:lnTo>
                    <a:pt x="0" y="1567307"/>
                  </a:lnTo>
                  <a:lnTo>
                    <a:pt x="904875" y="0"/>
                  </a:lnTo>
                  <a:lnTo>
                    <a:pt x="2714625" y="0"/>
                  </a:lnTo>
                  <a:lnTo>
                    <a:pt x="3619627" y="1567307"/>
                  </a:lnTo>
                  <a:close/>
                </a:path>
              </a:pathLst>
            </a:custGeom>
            <a:solidFill>
              <a:srgbClr val="00A181"/>
            </a:solidFill>
          </p:spPr>
        </p:sp>
      </p:grpSp>
      <p:sp>
        <p:nvSpPr>
          <p:cNvPr name="TextBox 11" id="11"/>
          <p:cNvSpPr txBox="true"/>
          <p:nvPr/>
        </p:nvSpPr>
        <p:spPr>
          <a:xfrm rot="0">
            <a:off x="5720475" y="2247380"/>
            <a:ext cx="3643456" cy="11144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99"/>
              </a:lnSpc>
            </a:pPr>
            <a:r>
              <a:rPr lang="en-US" sz="2499" spc="-24">
                <a:solidFill>
                  <a:srgbClr val="000000"/>
                </a:solidFill>
                <a:latin typeface="Fira Sans Medium"/>
                <a:ea typeface="Fira Sans Medium"/>
                <a:cs typeface="Fira Sans Medium"/>
                <a:sym typeface="Fira Sans Medium"/>
              </a:rPr>
              <a:t>Create Hand Instructions in Game Engine</a:t>
            </a:r>
          </a:p>
          <a:p>
            <a:pPr algn="ctr">
              <a:lnSpc>
                <a:spcPts val="2999"/>
              </a:lnSpc>
              <a:spcBef>
                <a:spcPct val="0"/>
              </a:spcBef>
            </a:pPr>
          </a:p>
        </p:txBody>
      </p:sp>
      <p:grpSp>
        <p:nvGrpSpPr>
          <p:cNvPr name="Group 12" id="12"/>
          <p:cNvGrpSpPr/>
          <p:nvPr/>
        </p:nvGrpSpPr>
        <p:grpSpPr>
          <a:xfrm rot="0">
            <a:off x="16752249" y="1774031"/>
            <a:ext cx="3666895" cy="3175548"/>
            <a:chOff x="0" y="0"/>
            <a:chExt cx="3619627" cy="3134614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3619627" cy="3134614"/>
            </a:xfrm>
            <a:custGeom>
              <a:avLst/>
              <a:gdLst/>
              <a:ahLst/>
              <a:cxnLst/>
              <a:rect r="r" b="b" t="t" l="l"/>
              <a:pathLst>
                <a:path h="3134614" w="3619627">
                  <a:moveTo>
                    <a:pt x="3619627" y="1567307"/>
                  </a:moveTo>
                  <a:lnTo>
                    <a:pt x="2714752" y="3134614"/>
                  </a:lnTo>
                  <a:lnTo>
                    <a:pt x="904875" y="3134614"/>
                  </a:lnTo>
                  <a:lnTo>
                    <a:pt x="0" y="1567307"/>
                  </a:lnTo>
                  <a:lnTo>
                    <a:pt x="904875" y="0"/>
                  </a:lnTo>
                  <a:lnTo>
                    <a:pt x="2714625" y="0"/>
                  </a:lnTo>
                  <a:lnTo>
                    <a:pt x="3619627" y="1567307"/>
                  </a:lnTo>
                  <a:close/>
                </a:path>
              </a:pathLst>
            </a:custGeom>
            <a:solidFill>
              <a:srgbClr val="A4E473"/>
            </a:solidFill>
          </p:spPr>
        </p:sp>
      </p:grpSp>
      <p:sp>
        <p:nvSpPr>
          <p:cNvPr name="Freeform 14" id="14"/>
          <p:cNvSpPr/>
          <p:nvPr/>
        </p:nvSpPr>
        <p:spPr>
          <a:xfrm flipH="false" flipV="false" rot="0">
            <a:off x="7192079" y="3380855"/>
            <a:ext cx="800746" cy="1155933"/>
          </a:xfrm>
          <a:custGeom>
            <a:avLst/>
            <a:gdLst/>
            <a:ahLst/>
            <a:cxnLst/>
            <a:rect r="r" b="b" t="t" l="l"/>
            <a:pathLst>
              <a:path h="1155933" w="800746">
                <a:moveTo>
                  <a:pt x="0" y="0"/>
                </a:moveTo>
                <a:lnTo>
                  <a:pt x="800746" y="0"/>
                </a:lnTo>
                <a:lnTo>
                  <a:pt x="800746" y="1155933"/>
                </a:lnTo>
                <a:lnTo>
                  <a:pt x="0" y="115593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5" id="15"/>
          <p:cNvSpPr txBox="true"/>
          <p:nvPr/>
        </p:nvSpPr>
        <p:spPr>
          <a:xfrm rot="0">
            <a:off x="4925421" y="4949579"/>
            <a:ext cx="5334062" cy="7429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99"/>
              </a:lnSpc>
              <a:spcBef>
                <a:spcPct val="0"/>
              </a:spcBef>
            </a:pPr>
            <a:r>
              <a:rPr lang="en-US" sz="2499" spc="-24">
                <a:solidFill>
                  <a:srgbClr val="000000"/>
                </a:solidFill>
                <a:latin typeface="Fira Sans Medium"/>
                <a:ea typeface="Fira Sans Medium"/>
                <a:cs typeface="Fira Sans Medium"/>
                <a:sym typeface="Fira Sans Medium"/>
              </a:rPr>
              <a:t>Requires Specific Understandings of Animations and Inverse Kinematics</a:t>
            </a:r>
          </a:p>
        </p:txBody>
      </p:sp>
      <p:sp>
        <p:nvSpPr>
          <p:cNvPr name="Freeform 16" id="16"/>
          <p:cNvSpPr/>
          <p:nvPr/>
        </p:nvSpPr>
        <p:spPr>
          <a:xfrm flipH="false" flipV="false" rot="0">
            <a:off x="7192079" y="6102104"/>
            <a:ext cx="800746" cy="1155933"/>
          </a:xfrm>
          <a:custGeom>
            <a:avLst/>
            <a:gdLst/>
            <a:ahLst/>
            <a:cxnLst/>
            <a:rect r="r" b="b" t="t" l="l"/>
            <a:pathLst>
              <a:path h="1155933" w="800746">
                <a:moveTo>
                  <a:pt x="0" y="0"/>
                </a:moveTo>
                <a:lnTo>
                  <a:pt x="800746" y="0"/>
                </a:lnTo>
                <a:lnTo>
                  <a:pt x="800746" y="1155933"/>
                </a:lnTo>
                <a:lnTo>
                  <a:pt x="0" y="115593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7" id="17"/>
          <p:cNvSpPr txBox="true"/>
          <p:nvPr/>
        </p:nvSpPr>
        <p:spPr>
          <a:xfrm rot="0">
            <a:off x="5483163" y="7667612"/>
            <a:ext cx="4218579" cy="7429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99"/>
              </a:lnSpc>
              <a:spcBef>
                <a:spcPct val="0"/>
              </a:spcBef>
            </a:pPr>
            <a:r>
              <a:rPr lang="en-US" sz="2499" spc="-24">
                <a:solidFill>
                  <a:srgbClr val="FF0000"/>
                </a:solidFill>
                <a:latin typeface="Fira Sans Medium"/>
                <a:ea typeface="Fira Sans Medium"/>
                <a:cs typeface="Fira Sans Medium"/>
                <a:sym typeface="Fira Sans Medium"/>
              </a:rPr>
              <a:t>Difficult for People without Prior Experience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4F4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4151770" y="4201140"/>
            <a:ext cx="7027514" cy="6085860"/>
            <a:chOff x="0" y="0"/>
            <a:chExt cx="3619627" cy="3134614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3619627" cy="3134614"/>
            </a:xfrm>
            <a:custGeom>
              <a:avLst/>
              <a:gdLst/>
              <a:ahLst/>
              <a:cxnLst/>
              <a:rect r="r" b="b" t="t" l="l"/>
              <a:pathLst>
                <a:path h="3134614" w="3619627">
                  <a:moveTo>
                    <a:pt x="3619627" y="1567307"/>
                  </a:moveTo>
                  <a:lnTo>
                    <a:pt x="2714752" y="3134614"/>
                  </a:lnTo>
                  <a:lnTo>
                    <a:pt x="904875" y="3134614"/>
                  </a:lnTo>
                  <a:lnTo>
                    <a:pt x="0" y="1567307"/>
                  </a:lnTo>
                  <a:lnTo>
                    <a:pt x="904875" y="0"/>
                  </a:lnTo>
                  <a:lnTo>
                    <a:pt x="2714625" y="0"/>
                  </a:lnTo>
                  <a:lnTo>
                    <a:pt x="3619627" y="1567307"/>
                  </a:lnTo>
                  <a:close/>
                </a:path>
              </a:pathLst>
            </a:custGeom>
            <a:solidFill>
              <a:srgbClr val="004651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15184904" y="-374200"/>
            <a:ext cx="4961246" cy="4296462"/>
            <a:chOff x="0" y="0"/>
            <a:chExt cx="3619627" cy="3134614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3619627" cy="3134614"/>
            </a:xfrm>
            <a:custGeom>
              <a:avLst/>
              <a:gdLst/>
              <a:ahLst/>
              <a:cxnLst/>
              <a:rect r="r" b="b" t="t" l="l"/>
              <a:pathLst>
                <a:path h="3134614" w="3619627">
                  <a:moveTo>
                    <a:pt x="3619627" y="1567307"/>
                  </a:moveTo>
                  <a:lnTo>
                    <a:pt x="2714752" y="3134614"/>
                  </a:lnTo>
                  <a:lnTo>
                    <a:pt x="904875" y="3134614"/>
                  </a:lnTo>
                  <a:lnTo>
                    <a:pt x="0" y="1567307"/>
                  </a:lnTo>
                  <a:lnTo>
                    <a:pt x="904875" y="0"/>
                  </a:lnTo>
                  <a:lnTo>
                    <a:pt x="2714625" y="0"/>
                  </a:lnTo>
                  <a:lnTo>
                    <a:pt x="3619627" y="1567307"/>
                  </a:lnTo>
                  <a:close/>
                </a:path>
              </a:pathLst>
            </a:custGeom>
            <a:solidFill>
              <a:srgbClr val="00A181"/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-3609959" y="6759445"/>
            <a:ext cx="7219917" cy="6252482"/>
            <a:chOff x="0" y="0"/>
            <a:chExt cx="3619627" cy="3134614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3619627" cy="3134614"/>
            </a:xfrm>
            <a:custGeom>
              <a:avLst/>
              <a:gdLst/>
              <a:ahLst/>
              <a:cxnLst/>
              <a:rect r="r" b="b" t="t" l="l"/>
              <a:pathLst>
                <a:path h="3134614" w="3619627">
                  <a:moveTo>
                    <a:pt x="3619627" y="1567307"/>
                  </a:moveTo>
                  <a:lnTo>
                    <a:pt x="2714752" y="3134614"/>
                  </a:lnTo>
                  <a:lnTo>
                    <a:pt x="904875" y="3134614"/>
                  </a:lnTo>
                  <a:lnTo>
                    <a:pt x="0" y="1567307"/>
                  </a:lnTo>
                  <a:lnTo>
                    <a:pt x="904875" y="0"/>
                  </a:lnTo>
                  <a:lnTo>
                    <a:pt x="2714625" y="0"/>
                  </a:lnTo>
                  <a:lnTo>
                    <a:pt x="3619627" y="1567307"/>
                  </a:lnTo>
                  <a:close/>
                </a:path>
              </a:pathLst>
            </a:custGeom>
            <a:solidFill>
              <a:srgbClr val="A4E473"/>
            </a:solidFill>
          </p:spPr>
        </p:sp>
      </p:grpSp>
      <p:sp>
        <p:nvSpPr>
          <p:cNvPr name="TextBox 8" id="8"/>
          <p:cNvSpPr txBox="true"/>
          <p:nvPr/>
        </p:nvSpPr>
        <p:spPr>
          <a:xfrm rot="0">
            <a:off x="-50249" y="637655"/>
            <a:ext cx="15184904" cy="12001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799"/>
              </a:lnSpc>
            </a:pPr>
            <a:r>
              <a:rPr lang="en-US" sz="3999" spc="-39" u="sng">
                <a:solidFill>
                  <a:srgbClr val="000000"/>
                </a:solidFill>
                <a:latin typeface="Fira Sans Medium"/>
                <a:ea typeface="Fira Sans Medium"/>
                <a:cs typeface="Fira Sans Medium"/>
                <a:sym typeface="Fira Sans Medium"/>
              </a:rPr>
              <a:t>Motivation and Problem Statement</a:t>
            </a:r>
          </a:p>
          <a:p>
            <a:pPr algn="ctr">
              <a:lnSpc>
                <a:spcPts val="4799"/>
              </a:lnSpc>
              <a:spcBef>
                <a:spcPct val="0"/>
              </a:spcBef>
            </a:pPr>
          </a:p>
        </p:txBody>
      </p:sp>
      <p:grpSp>
        <p:nvGrpSpPr>
          <p:cNvPr name="Group 9" id="9"/>
          <p:cNvGrpSpPr/>
          <p:nvPr/>
        </p:nvGrpSpPr>
        <p:grpSpPr>
          <a:xfrm rot="0">
            <a:off x="-1333799" y="5143500"/>
            <a:ext cx="2667599" cy="2310153"/>
            <a:chOff x="0" y="0"/>
            <a:chExt cx="3619627" cy="3134614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3619627" cy="3134614"/>
            </a:xfrm>
            <a:custGeom>
              <a:avLst/>
              <a:gdLst/>
              <a:ahLst/>
              <a:cxnLst/>
              <a:rect r="r" b="b" t="t" l="l"/>
              <a:pathLst>
                <a:path h="3134614" w="3619627">
                  <a:moveTo>
                    <a:pt x="3619627" y="1567307"/>
                  </a:moveTo>
                  <a:lnTo>
                    <a:pt x="2714752" y="3134614"/>
                  </a:lnTo>
                  <a:lnTo>
                    <a:pt x="904875" y="3134614"/>
                  </a:lnTo>
                  <a:lnTo>
                    <a:pt x="0" y="1567307"/>
                  </a:lnTo>
                  <a:lnTo>
                    <a:pt x="904875" y="0"/>
                  </a:lnTo>
                  <a:lnTo>
                    <a:pt x="2714625" y="0"/>
                  </a:lnTo>
                  <a:lnTo>
                    <a:pt x="3619627" y="1567307"/>
                  </a:lnTo>
                  <a:close/>
                </a:path>
              </a:pathLst>
            </a:custGeom>
            <a:solidFill>
              <a:srgbClr val="00A181"/>
            </a:solidFill>
          </p:spPr>
        </p:sp>
      </p:grpSp>
      <p:sp>
        <p:nvSpPr>
          <p:cNvPr name="TextBox 11" id="11"/>
          <p:cNvSpPr txBox="true"/>
          <p:nvPr/>
        </p:nvSpPr>
        <p:spPr>
          <a:xfrm rot="0">
            <a:off x="5770724" y="2237855"/>
            <a:ext cx="3643456" cy="7429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99"/>
              </a:lnSpc>
              <a:spcBef>
                <a:spcPct val="0"/>
              </a:spcBef>
            </a:pPr>
            <a:r>
              <a:rPr lang="en-US" sz="2499" spc="-24">
                <a:solidFill>
                  <a:srgbClr val="000000"/>
                </a:solidFill>
                <a:latin typeface="Fira Sans Medium"/>
                <a:ea typeface="Fira Sans Medium"/>
                <a:cs typeface="Fira Sans Medium"/>
                <a:sym typeface="Fira Sans Medium"/>
              </a:rPr>
              <a:t>Simple Way to Create Instructions</a:t>
            </a:r>
          </a:p>
        </p:txBody>
      </p:sp>
      <p:grpSp>
        <p:nvGrpSpPr>
          <p:cNvPr name="Group 12" id="12"/>
          <p:cNvGrpSpPr/>
          <p:nvPr/>
        </p:nvGrpSpPr>
        <p:grpSpPr>
          <a:xfrm rot="0">
            <a:off x="16752249" y="1774031"/>
            <a:ext cx="3666895" cy="3175548"/>
            <a:chOff x="0" y="0"/>
            <a:chExt cx="3619627" cy="3134614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3619627" cy="3134614"/>
            </a:xfrm>
            <a:custGeom>
              <a:avLst/>
              <a:gdLst/>
              <a:ahLst/>
              <a:cxnLst/>
              <a:rect r="r" b="b" t="t" l="l"/>
              <a:pathLst>
                <a:path h="3134614" w="3619627">
                  <a:moveTo>
                    <a:pt x="3619627" y="1567307"/>
                  </a:moveTo>
                  <a:lnTo>
                    <a:pt x="2714752" y="3134614"/>
                  </a:lnTo>
                  <a:lnTo>
                    <a:pt x="904875" y="3134614"/>
                  </a:lnTo>
                  <a:lnTo>
                    <a:pt x="0" y="1567307"/>
                  </a:lnTo>
                  <a:lnTo>
                    <a:pt x="904875" y="0"/>
                  </a:lnTo>
                  <a:lnTo>
                    <a:pt x="2714625" y="0"/>
                  </a:lnTo>
                  <a:lnTo>
                    <a:pt x="3619627" y="1567307"/>
                  </a:lnTo>
                  <a:close/>
                </a:path>
              </a:pathLst>
            </a:custGeom>
            <a:solidFill>
              <a:srgbClr val="A4E473"/>
            </a:solidFill>
          </p:spPr>
        </p:sp>
      </p:grpSp>
      <p:sp>
        <p:nvSpPr>
          <p:cNvPr name="Freeform 14" id="14"/>
          <p:cNvSpPr/>
          <p:nvPr/>
        </p:nvSpPr>
        <p:spPr>
          <a:xfrm flipH="false" flipV="false" rot="0">
            <a:off x="7192079" y="3380855"/>
            <a:ext cx="800746" cy="1155933"/>
          </a:xfrm>
          <a:custGeom>
            <a:avLst/>
            <a:gdLst/>
            <a:ahLst/>
            <a:cxnLst/>
            <a:rect r="r" b="b" t="t" l="l"/>
            <a:pathLst>
              <a:path h="1155933" w="800746">
                <a:moveTo>
                  <a:pt x="0" y="0"/>
                </a:moveTo>
                <a:lnTo>
                  <a:pt x="800746" y="0"/>
                </a:lnTo>
                <a:lnTo>
                  <a:pt x="800746" y="1155933"/>
                </a:lnTo>
                <a:lnTo>
                  <a:pt x="0" y="115593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5" id="15"/>
          <p:cNvSpPr txBox="true"/>
          <p:nvPr/>
        </p:nvSpPr>
        <p:spPr>
          <a:xfrm rot="0">
            <a:off x="4925421" y="5135317"/>
            <a:ext cx="5334062" cy="3714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99"/>
              </a:lnSpc>
              <a:spcBef>
                <a:spcPct val="0"/>
              </a:spcBef>
            </a:pPr>
            <a:r>
              <a:rPr lang="en-US" sz="2499" spc="-24">
                <a:solidFill>
                  <a:srgbClr val="000000"/>
                </a:solidFill>
                <a:latin typeface="Fira Sans Medium"/>
                <a:ea typeface="Fira Sans Medium"/>
                <a:cs typeface="Fira Sans Medium"/>
                <a:sym typeface="Fira Sans Medium"/>
              </a:rPr>
              <a:t>No Need Specific Knowledge</a:t>
            </a:r>
          </a:p>
        </p:txBody>
      </p:sp>
      <p:sp>
        <p:nvSpPr>
          <p:cNvPr name="Freeform 16" id="16"/>
          <p:cNvSpPr/>
          <p:nvPr/>
        </p:nvSpPr>
        <p:spPr>
          <a:xfrm flipH="false" flipV="false" rot="0">
            <a:off x="7192079" y="6102104"/>
            <a:ext cx="800746" cy="1155933"/>
          </a:xfrm>
          <a:custGeom>
            <a:avLst/>
            <a:gdLst/>
            <a:ahLst/>
            <a:cxnLst/>
            <a:rect r="r" b="b" t="t" l="l"/>
            <a:pathLst>
              <a:path h="1155933" w="800746">
                <a:moveTo>
                  <a:pt x="0" y="0"/>
                </a:moveTo>
                <a:lnTo>
                  <a:pt x="800746" y="0"/>
                </a:lnTo>
                <a:lnTo>
                  <a:pt x="800746" y="1155933"/>
                </a:lnTo>
                <a:lnTo>
                  <a:pt x="0" y="115593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7" id="17"/>
          <p:cNvSpPr txBox="true"/>
          <p:nvPr/>
        </p:nvSpPr>
        <p:spPr>
          <a:xfrm rot="0">
            <a:off x="5483163" y="7843825"/>
            <a:ext cx="4218579" cy="3714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99"/>
              </a:lnSpc>
              <a:spcBef>
                <a:spcPct val="0"/>
              </a:spcBef>
            </a:pPr>
            <a:r>
              <a:rPr lang="en-US" sz="2499" spc="-24">
                <a:solidFill>
                  <a:srgbClr val="000000"/>
                </a:solidFill>
                <a:latin typeface="Fira Sans Medium"/>
                <a:ea typeface="Fira Sans Medium"/>
                <a:cs typeface="Fira Sans Medium"/>
                <a:sym typeface="Fira Sans Medium"/>
              </a:rPr>
              <a:t>MediaPipe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4F4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4151770" y="4201140"/>
            <a:ext cx="7027514" cy="6085860"/>
            <a:chOff x="0" y="0"/>
            <a:chExt cx="3619627" cy="3134614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3619627" cy="3134614"/>
            </a:xfrm>
            <a:custGeom>
              <a:avLst/>
              <a:gdLst/>
              <a:ahLst/>
              <a:cxnLst/>
              <a:rect r="r" b="b" t="t" l="l"/>
              <a:pathLst>
                <a:path h="3134614" w="3619627">
                  <a:moveTo>
                    <a:pt x="3619627" y="1567307"/>
                  </a:moveTo>
                  <a:lnTo>
                    <a:pt x="2714752" y="3134614"/>
                  </a:lnTo>
                  <a:lnTo>
                    <a:pt x="904875" y="3134614"/>
                  </a:lnTo>
                  <a:lnTo>
                    <a:pt x="0" y="1567307"/>
                  </a:lnTo>
                  <a:lnTo>
                    <a:pt x="904875" y="0"/>
                  </a:lnTo>
                  <a:lnTo>
                    <a:pt x="2714625" y="0"/>
                  </a:lnTo>
                  <a:lnTo>
                    <a:pt x="3619627" y="1567307"/>
                  </a:lnTo>
                  <a:close/>
                </a:path>
              </a:pathLst>
            </a:custGeom>
            <a:solidFill>
              <a:srgbClr val="004651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15184904" y="-374200"/>
            <a:ext cx="4961246" cy="4296462"/>
            <a:chOff x="0" y="0"/>
            <a:chExt cx="3619627" cy="3134614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3619627" cy="3134614"/>
            </a:xfrm>
            <a:custGeom>
              <a:avLst/>
              <a:gdLst/>
              <a:ahLst/>
              <a:cxnLst/>
              <a:rect r="r" b="b" t="t" l="l"/>
              <a:pathLst>
                <a:path h="3134614" w="3619627">
                  <a:moveTo>
                    <a:pt x="3619627" y="1567307"/>
                  </a:moveTo>
                  <a:lnTo>
                    <a:pt x="2714752" y="3134614"/>
                  </a:lnTo>
                  <a:lnTo>
                    <a:pt x="904875" y="3134614"/>
                  </a:lnTo>
                  <a:lnTo>
                    <a:pt x="0" y="1567307"/>
                  </a:lnTo>
                  <a:lnTo>
                    <a:pt x="904875" y="0"/>
                  </a:lnTo>
                  <a:lnTo>
                    <a:pt x="2714625" y="0"/>
                  </a:lnTo>
                  <a:lnTo>
                    <a:pt x="3619627" y="1567307"/>
                  </a:lnTo>
                  <a:close/>
                </a:path>
              </a:pathLst>
            </a:custGeom>
            <a:solidFill>
              <a:srgbClr val="00A181"/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-3609959" y="6759445"/>
            <a:ext cx="7219917" cy="6252482"/>
            <a:chOff x="0" y="0"/>
            <a:chExt cx="3619627" cy="3134614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3619627" cy="3134614"/>
            </a:xfrm>
            <a:custGeom>
              <a:avLst/>
              <a:gdLst/>
              <a:ahLst/>
              <a:cxnLst/>
              <a:rect r="r" b="b" t="t" l="l"/>
              <a:pathLst>
                <a:path h="3134614" w="3619627">
                  <a:moveTo>
                    <a:pt x="3619627" y="1567307"/>
                  </a:moveTo>
                  <a:lnTo>
                    <a:pt x="2714752" y="3134614"/>
                  </a:lnTo>
                  <a:lnTo>
                    <a:pt x="904875" y="3134614"/>
                  </a:lnTo>
                  <a:lnTo>
                    <a:pt x="0" y="1567307"/>
                  </a:lnTo>
                  <a:lnTo>
                    <a:pt x="904875" y="0"/>
                  </a:lnTo>
                  <a:lnTo>
                    <a:pt x="2714625" y="0"/>
                  </a:lnTo>
                  <a:lnTo>
                    <a:pt x="3619627" y="1567307"/>
                  </a:lnTo>
                  <a:close/>
                </a:path>
              </a:pathLst>
            </a:custGeom>
            <a:solidFill>
              <a:srgbClr val="A4E473"/>
            </a:solidFill>
          </p:spPr>
        </p:sp>
      </p:grpSp>
      <p:sp>
        <p:nvSpPr>
          <p:cNvPr name="TextBox 8" id="8"/>
          <p:cNvSpPr txBox="true"/>
          <p:nvPr/>
        </p:nvSpPr>
        <p:spPr>
          <a:xfrm rot="0">
            <a:off x="-50249" y="637655"/>
            <a:ext cx="15184904" cy="12001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799"/>
              </a:lnSpc>
            </a:pPr>
            <a:r>
              <a:rPr lang="en-US" sz="3999" spc="-39" u="sng">
                <a:solidFill>
                  <a:srgbClr val="000000"/>
                </a:solidFill>
                <a:latin typeface="Fira Sans Medium"/>
                <a:ea typeface="Fira Sans Medium"/>
                <a:cs typeface="Fira Sans Medium"/>
                <a:sym typeface="Fira Sans Medium"/>
              </a:rPr>
              <a:t>Motivation and Problem Statement</a:t>
            </a:r>
          </a:p>
          <a:p>
            <a:pPr algn="ctr">
              <a:lnSpc>
                <a:spcPts val="4799"/>
              </a:lnSpc>
              <a:spcBef>
                <a:spcPct val="0"/>
              </a:spcBef>
            </a:pPr>
          </a:p>
        </p:txBody>
      </p:sp>
      <p:grpSp>
        <p:nvGrpSpPr>
          <p:cNvPr name="Group 9" id="9"/>
          <p:cNvGrpSpPr/>
          <p:nvPr/>
        </p:nvGrpSpPr>
        <p:grpSpPr>
          <a:xfrm rot="0">
            <a:off x="-1333799" y="5143500"/>
            <a:ext cx="2667599" cy="2310153"/>
            <a:chOff x="0" y="0"/>
            <a:chExt cx="3619627" cy="3134614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3619627" cy="3134614"/>
            </a:xfrm>
            <a:custGeom>
              <a:avLst/>
              <a:gdLst/>
              <a:ahLst/>
              <a:cxnLst/>
              <a:rect r="r" b="b" t="t" l="l"/>
              <a:pathLst>
                <a:path h="3134614" w="3619627">
                  <a:moveTo>
                    <a:pt x="3619627" y="1567307"/>
                  </a:moveTo>
                  <a:lnTo>
                    <a:pt x="2714752" y="3134614"/>
                  </a:lnTo>
                  <a:lnTo>
                    <a:pt x="904875" y="3134614"/>
                  </a:lnTo>
                  <a:lnTo>
                    <a:pt x="0" y="1567307"/>
                  </a:lnTo>
                  <a:lnTo>
                    <a:pt x="904875" y="0"/>
                  </a:lnTo>
                  <a:lnTo>
                    <a:pt x="2714625" y="0"/>
                  </a:lnTo>
                  <a:lnTo>
                    <a:pt x="3619627" y="1567307"/>
                  </a:lnTo>
                  <a:close/>
                </a:path>
              </a:pathLst>
            </a:custGeom>
            <a:solidFill>
              <a:srgbClr val="00A181"/>
            </a:solidFill>
          </p:spPr>
        </p:sp>
      </p:grpSp>
      <p:sp>
        <p:nvSpPr>
          <p:cNvPr name="TextBox 11" id="11"/>
          <p:cNvSpPr txBox="true"/>
          <p:nvPr/>
        </p:nvSpPr>
        <p:spPr>
          <a:xfrm rot="0">
            <a:off x="5770724" y="2237855"/>
            <a:ext cx="3643456" cy="7429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99"/>
              </a:lnSpc>
              <a:spcBef>
                <a:spcPct val="0"/>
              </a:spcBef>
            </a:pPr>
            <a:r>
              <a:rPr lang="en-US" sz="2499" spc="-24">
                <a:solidFill>
                  <a:srgbClr val="000000"/>
                </a:solidFill>
                <a:latin typeface="Fira Sans Medium"/>
                <a:ea typeface="Fira Sans Medium"/>
                <a:cs typeface="Fira Sans Medium"/>
                <a:sym typeface="Fira Sans Medium"/>
              </a:rPr>
              <a:t>MediaPipe Data is Inconsistent</a:t>
            </a:r>
          </a:p>
        </p:txBody>
      </p:sp>
      <p:grpSp>
        <p:nvGrpSpPr>
          <p:cNvPr name="Group 12" id="12"/>
          <p:cNvGrpSpPr/>
          <p:nvPr/>
        </p:nvGrpSpPr>
        <p:grpSpPr>
          <a:xfrm rot="0">
            <a:off x="16752249" y="1774031"/>
            <a:ext cx="3666895" cy="3175548"/>
            <a:chOff x="0" y="0"/>
            <a:chExt cx="3619627" cy="3134614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3619627" cy="3134614"/>
            </a:xfrm>
            <a:custGeom>
              <a:avLst/>
              <a:gdLst/>
              <a:ahLst/>
              <a:cxnLst/>
              <a:rect r="r" b="b" t="t" l="l"/>
              <a:pathLst>
                <a:path h="3134614" w="3619627">
                  <a:moveTo>
                    <a:pt x="3619627" y="1567307"/>
                  </a:moveTo>
                  <a:lnTo>
                    <a:pt x="2714752" y="3134614"/>
                  </a:lnTo>
                  <a:lnTo>
                    <a:pt x="904875" y="3134614"/>
                  </a:lnTo>
                  <a:lnTo>
                    <a:pt x="0" y="1567307"/>
                  </a:lnTo>
                  <a:lnTo>
                    <a:pt x="904875" y="0"/>
                  </a:lnTo>
                  <a:lnTo>
                    <a:pt x="2714625" y="0"/>
                  </a:lnTo>
                  <a:lnTo>
                    <a:pt x="3619627" y="1567307"/>
                  </a:lnTo>
                  <a:close/>
                </a:path>
              </a:pathLst>
            </a:custGeom>
            <a:solidFill>
              <a:srgbClr val="A4E473"/>
            </a:solidFill>
          </p:spPr>
        </p:sp>
      </p:grpSp>
      <p:sp>
        <p:nvSpPr>
          <p:cNvPr name="Freeform 14" id="14"/>
          <p:cNvSpPr/>
          <p:nvPr/>
        </p:nvSpPr>
        <p:spPr>
          <a:xfrm flipH="false" flipV="false" rot="0">
            <a:off x="7192079" y="3380855"/>
            <a:ext cx="800746" cy="1155933"/>
          </a:xfrm>
          <a:custGeom>
            <a:avLst/>
            <a:gdLst/>
            <a:ahLst/>
            <a:cxnLst/>
            <a:rect r="r" b="b" t="t" l="l"/>
            <a:pathLst>
              <a:path h="1155933" w="800746">
                <a:moveTo>
                  <a:pt x="0" y="0"/>
                </a:moveTo>
                <a:lnTo>
                  <a:pt x="800746" y="0"/>
                </a:lnTo>
                <a:lnTo>
                  <a:pt x="800746" y="1155933"/>
                </a:lnTo>
                <a:lnTo>
                  <a:pt x="0" y="115593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5" id="15"/>
          <p:cNvSpPr txBox="true"/>
          <p:nvPr/>
        </p:nvSpPr>
        <p:spPr>
          <a:xfrm rot="0">
            <a:off x="5725598" y="5040840"/>
            <a:ext cx="3633210" cy="7429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99"/>
              </a:lnSpc>
              <a:spcBef>
                <a:spcPct val="0"/>
              </a:spcBef>
            </a:pPr>
            <a:r>
              <a:rPr lang="en-US" sz="2499" spc="-24">
                <a:solidFill>
                  <a:srgbClr val="000000"/>
                </a:solidFill>
                <a:latin typeface="Fira Sans Medium"/>
                <a:ea typeface="Fira Sans Medium"/>
                <a:cs typeface="Fira Sans Medium"/>
                <a:sym typeface="Fira Sans Medium"/>
              </a:rPr>
              <a:t>Need Filtering for High Quality Results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4438732" y="7453653"/>
            <a:ext cx="6307441" cy="3714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99"/>
              </a:lnSpc>
              <a:spcBef>
                <a:spcPct val="0"/>
              </a:spcBef>
            </a:pPr>
            <a:r>
              <a:rPr lang="en-US" sz="2499" spc="-24">
                <a:solidFill>
                  <a:srgbClr val="000000"/>
                </a:solidFill>
                <a:latin typeface="Fira Sans Medium"/>
                <a:ea typeface="Fira Sans Medium"/>
                <a:cs typeface="Fira Sans Medium"/>
                <a:sym typeface="Fira Sans Medium"/>
              </a:rPr>
              <a:t>[I will put video of MediaPipe Jittering here]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4F4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4913757" y="4201140"/>
            <a:ext cx="7027514" cy="6085860"/>
            <a:chOff x="0" y="0"/>
            <a:chExt cx="3619627" cy="3134614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3619627" cy="3134614"/>
            </a:xfrm>
            <a:custGeom>
              <a:avLst/>
              <a:gdLst/>
              <a:ahLst/>
              <a:cxnLst/>
              <a:rect r="r" b="b" t="t" l="l"/>
              <a:pathLst>
                <a:path h="3134614" w="3619627">
                  <a:moveTo>
                    <a:pt x="3619627" y="1567307"/>
                  </a:moveTo>
                  <a:lnTo>
                    <a:pt x="2714752" y="3134614"/>
                  </a:lnTo>
                  <a:lnTo>
                    <a:pt x="904875" y="3134614"/>
                  </a:lnTo>
                  <a:lnTo>
                    <a:pt x="0" y="1567307"/>
                  </a:lnTo>
                  <a:lnTo>
                    <a:pt x="904875" y="0"/>
                  </a:lnTo>
                  <a:lnTo>
                    <a:pt x="2714625" y="0"/>
                  </a:lnTo>
                  <a:lnTo>
                    <a:pt x="3619627" y="1567307"/>
                  </a:lnTo>
                  <a:close/>
                </a:path>
              </a:pathLst>
            </a:custGeom>
            <a:solidFill>
              <a:srgbClr val="004651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14411328" y="287330"/>
            <a:ext cx="4961246" cy="4296462"/>
            <a:chOff x="0" y="0"/>
            <a:chExt cx="3619627" cy="3134614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3619627" cy="3134614"/>
            </a:xfrm>
            <a:custGeom>
              <a:avLst/>
              <a:gdLst/>
              <a:ahLst/>
              <a:cxnLst/>
              <a:rect r="r" b="b" t="t" l="l"/>
              <a:pathLst>
                <a:path h="3134614" w="3619627">
                  <a:moveTo>
                    <a:pt x="3619627" y="1567307"/>
                  </a:moveTo>
                  <a:lnTo>
                    <a:pt x="2714752" y="3134614"/>
                  </a:lnTo>
                  <a:lnTo>
                    <a:pt x="904875" y="3134614"/>
                  </a:lnTo>
                  <a:lnTo>
                    <a:pt x="0" y="1567307"/>
                  </a:lnTo>
                  <a:lnTo>
                    <a:pt x="904875" y="0"/>
                  </a:lnTo>
                  <a:lnTo>
                    <a:pt x="2714625" y="0"/>
                  </a:lnTo>
                  <a:lnTo>
                    <a:pt x="3619627" y="1567307"/>
                  </a:lnTo>
                  <a:close/>
                </a:path>
              </a:pathLst>
            </a:custGeom>
            <a:solidFill>
              <a:srgbClr val="00A181"/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12942804" y="3379990"/>
            <a:ext cx="4904492" cy="4247313"/>
            <a:chOff x="0" y="0"/>
            <a:chExt cx="3619627" cy="3134614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3619627" cy="3134614"/>
            </a:xfrm>
            <a:custGeom>
              <a:avLst/>
              <a:gdLst/>
              <a:ahLst/>
              <a:cxnLst/>
              <a:rect r="r" b="b" t="t" l="l"/>
              <a:pathLst>
                <a:path h="3134614" w="3619627">
                  <a:moveTo>
                    <a:pt x="3619627" y="1567307"/>
                  </a:moveTo>
                  <a:lnTo>
                    <a:pt x="2714752" y="3134614"/>
                  </a:lnTo>
                  <a:lnTo>
                    <a:pt x="904875" y="3134614"/>
                  </a:lnTo>
                  <a:lnTo>
                    <a:pt x="0" y="1567307"/>
                  </a:lnTo>
                  <a:lnTo>
                    <a:pt x="904875" y="0"/>
                  </a:lnTo>
                  <a:lnTo>
                    <a:pt x="2714625" y="0"/>
                  </a:lnTo>
                  <a:lnTo>
                    <a:pt x="3619627" y="1567307"/>
                  </a:lnTo>
                  <a:close/>
                </a:path>
              </a:pathLst>
            </a:custGeom>
            <a:solidFill>
              <a:srgbClr val="A4E473"/>
            </a:solidFill>
          </p:spPr>
        </p:sp>
      </p:grpSp>
      <p:sp>
        <p:nvSpPr>
          <p:cNvPr name="TextBox 8" id="8"/>
          <p:cNvSpPr txBox="true"/>
          <p:nvPr/>
        </p:nvSpPr>
        <p:spPr>
          <a:xfrm rot="0">
            <a:off x="0" y="666435"/>
            <a:ext cx="12942804" cy="119894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795"/>
              </a:lnSpc>
            </a:pPr>
            <a:r>
              <a:rPr lang="en-US" sz="3995" spc="-39" u="sng">
                <a:solidFill>
                  <a:srgbClr val="000000"/>
                </a:solidFill>
                <a:latin typeface="Fira Sans Medium"/>
                <a:ea typeface="Fira Sans Medium"/>
                <a:cs typeface="Fira Sans Medium"/>
                <a:sym typeface="Fira Sans Medium"/>
              </a:rPr>
              <a:t>Goals</a:t>
            </a:r>
          </a:p>
          <a:p>
            <a:pPr algn="ctr">
              <a:lnSpc>
                <a:spcPts val="4795"/>
              </a:lnSpc>
              <a:spcBef>
                <a:spcPct val="0"/>
              </a:spcBef>
            </a:pPr>
          </a:p>
        </p:txBody>
      </p:sp>
      <p:sp>
        <p:nvSpPr>
          <p:cNvPr name="TextBox 9" id="9"/>
          <p:cNvSpPr txBox="true"/>
          <p:nvPr/>
        </p:nvSpPr>
        <p:spPr>
          <a:xfrm rot="0">
            <a:off x="1151653" y="2064086"/>
            <a:ext cx="4022561" cy="7429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539749" indent="-269875" lvl="1">
              <a:lnSpc>
                <a:spcPts val="2999"/>
              </a:lnSpc>
              <a:spcBef>
                <a:spcPct val="0"/>
              </a:spcBef>
              <a:buAutoNum type="arabicPeriod" startAt="1"/>
            </a:pPr>
            <a:r>
              <a:rPr lang="en-US" sz="2499" spc="-24">
                <a:solidFill>
                  <a:srgbClr val="000000"/>
                </a:solidFill>
                <a:latin typeface="Fira Sans Medium"/>
                <a:ea typeface="Fira Sans Medium"/>
                <a:cs typeface="Fira Sans Medium"/>
                <a:sym typeface="Fira Sans Medium"/>
              </a:rPr>
              <a:t>Create a Complete Pipeline</a:t>
            </a:r>
          </a:p>
        </p:txBody>
      </p:sp>
      <p:sp>
        <p:nvSpPr>
          <p:cNvPr name="Freeform 10" id="10"/>
          <p:cNvSpPr/>
          <p:nvPr/>
        </p:nvSpPr>
        <p:spPr>
          <a:xfrm flipH="false" flipV="false" rot="0">
            <a:off x="2829160" y="3191972"/>
            <a:ext cx="800746" cy="1155933"/>
          </a:xfrm>
          <a:custGeom>
            <a:avLst/>
            <a:gdLst/>
            <a:ahLst/>
            <a:cxnLst/>
            <a:rect r="r" b="b" t="t" l="l"/>
            <a:pathLst>
              <a:path h="1155933" w="800746">
                <a:moveTo>
                  <a:pt x="0" y="0"/>
                </a:moveTo>
                <a:lnTo>
                  <a:pt x="800747" y="0"/>
                </a:lnTo>
                <a:lnTo>
                  <a:pt x="800747" y="1155933"/>
                </a:lnTo>
                <a:lnTo>
                  <a:pt x="0" y="115593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1" id="11"/>
          <p:cNvSpPr txBox="true"/>
          <p:nvPr/>
        </p:nvSpPr>
        <p:spPr>
          <a:xfrm rot="0">
            <a:off x="1028700" y="4760696"/>
            <a:ext cx="4401667" cy="7429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99"/>
              </a:lnSpc>
              <a:spcBef>
                <a:spcPct val="0"/>
              </a:spcBef>
            </a:pPr>
            <a:r>
              <a:rPr lang="en-US" sz="2499" spc="-24">
                <a:solidFill>
                  <a:srgbClr val="000000"/>
                </a:solidFill>
                <a:latin typeface="Fira Sans Medium"/>
                <a:ea typeface="Fira Sans Medium"/>
                <a:cs typeface="Fira Sans Medium"/>
                <a:sym typeface="Fira Sans Medium"/>
              </a:rPr>
              <a:t>Create Hand Instructions with only Camera Recordings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7796860" y="2064086"/>
            <a:ext cx="3868870" cy="7429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539749" indent="-269875" lvl="1">
              <a:lnSpc>
                <a:spcPts val="2999"/>
              </a:lnSpc>
              <a:spcBef>
                <a:spcPct val="0"/>
              </a:spcBef>
              <a:buAutoNum type="arabicPeriod" startAt="1"/>
            </a:pPr>
            <a:r>
              <a:rPr lang="en-US" sz="2499" spc="-24">
                <a:solidFill>
                  <a:srgbClr val="000000"/>
                </a:solidFill>
                <a:latin typeface="Fira Sans Medium"/>
                <a:ea typeface="Fira Sans Medium"/>
                <a:cs typeface="Fira Sans Medium"/>
                <a:sym typeface="Fira Sans Medium"/>
              </a:rPr>
              <a:t>Find a Suitable Filtering Methods</a:t>
            </a:r>
          </a:p>
        </p:txBody>
      </p:sp>
      <p:sp>
        <p:nvSpPr>
          <p:cNvPr name="Freeform 13" id="13"/>
          <p:cNvSpPr/>
          <p:nvPr/>
        </p:nvSpPr>
        <p:spPr>
          <a:xfrm flipH="false" flipV="false" rot="0">
            <a:off x="9330922" y="3191972"/>
            <a:ext cx="800746" cy="1155933"/>
          </a:xfrm>
          <a:custGeom>
            <a:avLst/>
            <a:gdLst/>
            <a:ahLst/>
            <a:cxnLst/>
            <a:rect r="r" b="b" t="t" l="l"/>
            <a:pathLst>
              <a:path h="1155933" w="800746">
                <a:moveTo>
                  <a:pt x="0" y="0"/>
                </a:moveTo>
                <a:lnTo>
                  <a:pt x="800746" y="0"/>
                </a:lnTo>
                <a:lnTo>
                  <a:pt x="800746" y="1155933"/>
                </a:lnTo>
                <a:lnTo>
                  <a:pt x="0" y="115593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4" id="14"/>
          <p:cNvSpPr txBox="true"/>
          <p:nvPr/>
        </p:nvSpPr>
        <p:spPr>
          <a:xfrm rot="0">
            <a:off x="7530461" y="4946434"/>
            <a:ext cx="4401667" cy="3714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99"/>
              </a:lnSpc>
              <a:spcBef>
                <a:spcPct val="0"/>
              </a:spcBef>
            </a:pPr>
            <a:r>
              <a:rPr lang="en-US" sz="2499" spc="-24">
                <a:solidFill>
                  <a:srgbClr val="000000"/>
                </a:solidFill>
                <a:latin typeface="Fira Sans Medium"/>
                <a:ea typeface="Fira Sans Medium"/>
                <a:cs typeface="Fira Sans Medium"/>
                <a:sym typeface="Fira Sans Medium"/>
              </a:rPr>
              <a:t>Reduce Jitter and Noise</a:t>
            </a:r>
          </a:p>
        </p:txBody>
      </p:sp>
      <p:sp>
        <p:nvSpPr>
          <p:cNvPr name="Freeform 15" id="15"/>
          <p:cNvSpPr/>
          <p:nvPr/>
        </p:nvSpPr>
        <p:spPr>
          <a:xfrm flipH="false" flipV="false" rot="0">
            <a:off x="2829160" y="5884646"/>
            <a:ext cx="800746" cy="1155933"/>
          </a:xfrm>
          <a:custGeom>
            <a:avLst/>
            <a:gdLst/>
            <a:ahLst/>
            <a:cxnLst/>
            <a:rect r="r" b="b" t="t" l="l"/>
            <a:pathLst>
              <a:path h="1155933" w="800746">
                <a:moveTo>
                  <a:pt x="0" y="0"/>
                </a:moveTo>
                <a:lnTo>
                  <a:pt x="800747" y="0"/>
                </a:lnTo>
                <a:lnTo>
                  <a:pt x="800747" y="1155933"/>
                </a:lnTo>
                <a:lnTo>
                  <a:pt x="0" y="115593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6" id="16"/>
          <p:cNvSpPr/>
          <p:nvPr/>
        </p:nvSpPr>
        <p:spPr>
          <a:xfrm flipH="false" flipV="false" rot="0">
            <a:off x="9330922" y="5913221"/>
            <a:ext cx="800746" cy="1155933"/>
          </a:xfrm>
          <a:custGeom>
            <a:avLst/>
            <a:gdLst/>
            <a:ahLst/>
            <a:cxnLst/>
            <a:rect r="r" b="b" t="t" l="l"/>
            <a:pathLst>
              <a:path h="1155933" w="800746">
                <a:moveTo>
                  <a:pt x="0" y="0"/>
                </a:moveTo>
                <a:lnTo>
                  <a:pt x="800746" y="0"/>
                </a:lnTo>
                <a:lnTo>
                  <a:pt x="800746" y="1155933"/>
                </a:lnTo>
                <a:lnTo>
                  <a:pt x="0" y="115593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7" id="17"/>
          <p:cNvSpPr txBox="true"/>
          <p:nvPr/>
        </p:nvSpPr>
        <p:spPr>
          <a:xfrm rot="0">
            <a:off x="8012028" y="7450154"/>
            <a:ext cx="3438534" cy="7429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99"/>
              </a:lnSpc>
              <a:spcBef>
                <a:spcPct val="0"/>
              </a:spcBef>
            </a:pPr>
            <a:r>
              <a:rPr lang="en-US" sz="2499" spc="-24">
                <a:solidFill>
                  <a:srgbClr val="000000"/>
                </a:solidFill>
                <a:latin typeface="Fira Sans Medium"/>
                <a:ea typeface="Fira Sans Medium"/>
                <a:cs typeface="Fira Sans Medium"/>
                <a:sym typeface="Fira Sans Medium"/>
              </a:rPr>
              <a:t>Output High Quality Hand Instructions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1510266" y="7627303"/>
            <a:ext cx="3438534" cy="7429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99"/>
              </a:lnSpc>
              <a:spcBef>
                <a:spcPct val="0"/>
              </a:spcBef>
            </a:pPr>
            <a:r>
              <a:rPr lang="en-US" sz="2499" spc="-24">
                <a:solidFill>
                  <a:srgbClr val="000000"/>
                </a:solidFill>
                <a:latin typeface="Fira Sans Medium"/>
                <a:ea typeface="Fira Sans Medium"/>
                <a:cs typeface="Fira Sans Medium"/>
                <a:sym typeface="Fira Sans Medium"/>
              </a:rPr>
              <a:t>No Direct Interaction with Animation System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>
  <p:cSld>
    <p:bg>
      <p:bgPr>
        <a:solidFill>
          <a:srgbClr val="F4F4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-10800000">
            <a:off x="-1190761" y="6705016"/>
            <a:ext cx="2765875" cy="2395261"/>
            <a:chOff x="0" y="0"/>
            <a:chExt cx="3619627" cy="3134614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3619627" cy="3134614"/>
            </a:xfrm>
            <a:custGeom>
              <a:avLst/>
              <a:gdLst/>
              <a:ahLst/>
              <a:cxnLst/>
              <a:rect r="r" b="b" t="t" l="l"/>
              <a:pathLst>
                <a:path h="3134614" w="3619627">
                  <a:moveTo>
                    <a:pt x="3619627" y="1567307"/>
                  </a:moveTo>
                  <a:lnTo>
                    <a:pt x="2714752" y="3134614"/>
                  </a:lnTo>
                  <a:lnTo>
                    <a:pt x="904875" y="3134614"/>
                  </a:lnTo>
                  <a:lnTo>
                    <a:pt x="0" y="1567307"/>
                  </a:lnTo>
                  <a:lnTo>
                    <a:pt x="904875" y="0"/>
                  </a:lnTo>
                  <a:lnTo>
                    <a:pt x="2714625" y="0"/>
                  </a:lnTo>
                  <a:lnTo>
                    <a:pt x="3619627" y="1567307"/>
                  </a:lnTo>
                  <a:close/>
                </a:path>
              </a:pathLst>
            </a:custGeom>
            <a:solidFill>
              <a:srgbClr val="004651"/>
            </a:solidFill>
          </p:spPr>
        </p:sp>
      </p:grpSp>
      <p:grpSp>
        <p:nvGrpSpPr>
          <p:cNvPr name="Group 4" id="4"/>
          <p:cNvGrpSpPr/>
          <p:nvPr/>
        </p:nvGrpSpPr>
        <p:grpSpPr>
          <a:xfrm rot="-10800000">
            <a:off x="-1358551" y="9258300"/>
            <a:ext cx="2987730" cy="2587388"/>
            <a:chOff x="0" y="0"/>
            <a:chExt cx="3619627" cy="3134614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3619627" cy="3134614"/>
            </a:xfrm>
            <a:custGeom>
              <a:avLst/>
              <a:gdLst/>
              <a:ahLst/>
              <a:cxnLst/>
              <a:rect r="r" b="b" t="t" l="l"/>
              <a:pathLst>
                <a:path h="3134614" w="3619627">
                  <a:moveTo>
                    <a:pt x="3619627" y="1567307"/>
                  </a:moveTo>
                  <a:lnTo>
                    <a:pt x="2714752" y="3134614"/>
                  </a:lnTo>
                  <a:lnTo>
                    <a:pt x="904875" y="3134614"/>
                  </a:lnTo>
                  <a:lnTo>
                    <a:pt x="0" y="1567307"/>
                  </a:lnTo>
                  <a:lnTo>
                    <a:pt x="904875" y="0"/>
                  </a:lnTo>
                  <a:lnTo>
                    <a:pt x="2714625" y="0"/>
                  </a:lnTo>
                  <a:lnTo>
                    <a:pt x="3619627" y="1567307"/>
                  </a:lnTo>
                  <a:close/>
                </a:path>
              </a:pathLst>
            </a:custGeom>
            <a:solidFill>
              <a:srgbClr val="00A181"/>
            </a:solidFill>
          </p:spPr>
        </p:sp>
      </p:grpSp>
      <p:grpSp>
        <p:nvGrpSpPr>
          <p:cNvPr name="Group 6" id="6"/>
          <p:cNvGrpSpPr/>
          <p:nvPr/>
        </p:nvGrpSpPr>
        <p:grpSpPr>
          <a:xfrm rot="-10800000">
            <a:off x="1028700" y="8173576"/>
            <a:ext cx="2357967" cy="2042010"/>
            <a:chOff x="0" y="0"/>
            <a:chExt cx="3619627" cy="3134614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3619627" cy="3134614"/>
            </a:xfrm>
            <a:custGeom>
              <a:avLst/>
              <a:gdLst/>
              <a:ahLst/>
              <a:cxnLst/>
              <a:rect r="r" b="b" t="t" l="l"/>
              <a:pathLst>
                <a:path h="3134614" w="3619627">
                  <a:moveTo>
                    <a:pt x="3619627" y="1567307"/>
                  </a:moveTo>
                  <a:lnTo>
                    <a:pt x="2714752" y="3134614"/>
                  </a:lnTo>
                  <a:lnTo>
                    <a:pt x="904875" y="3134614"/>
                  </a:lnTo>
                  <a:lnTo>
                    <a:pt x="0" y="1567307"/>
                  </a:lnTo>
                  <a:lnTo>
                    <a:pt x="904875" y="0"/>
                  </a:lnTo>
                  <a:lnTo>
                    <a:pt x="2714625" y="0"/>
                  </a:lnTo>
                  <a:lnTo>
                    <a:pt x="3619627" y="1567307"/>
                  </a:lnTo>
                  <a:close/>
                </a:path>
              </a:pathLst>
            </a:custGeom>
            <a:solidFill>
              <a:srgbClr val="A4E473"/>
            </a:solidFill>
          </p:spPr>
        </p:sp>
      </p:grpSp>
      <p:sp>
        <p:nvSpPr>
          <p:cNvPr name="TextBox 8" id="8"/>
          <p:cNvSpPr txBox="true"/>
          <p:nvPr/>
        </p:nvSpPr>
        <p:spPr>
          <a:xfrm rot="0">
            <a:off x="0" y="960650"/>
            <a:ext cx="18288000" cy="6000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799"/>
              </a:lnSpc>
              <a:spcBef>
                <a:spcPct val="0"/>
              </a:spcBef>
            </a:pPr>
            <a:r>
              <a:rPr lang="en-US" sz="3999" spc="-39" u="sng">
                <a:solidFill>
                  <a:srgbClr val="000000"/>
                </a:solidFill>
                <a:latin typeface="Fira Sans Medium"/>
                <a:ea typeface="Fira Sans Medium"/>
                <a:cs typeface="Fira Sans Medium"/>
                <a:sym typeface="Fira Sans Medium"/>
              </a:rPr>
              <a:t>State of Science and Technology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7322272" y="2312246"/>
            <a:ext cx="3643456" cy="3714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99"/>
              </a:lnSpc>
              <a:spcBef>
                <a:spcPct val="0"/>
              </a:spcBef>
            </a:pPr>
            <a:r>
              <a:rPr lang="en-US" sz="2499" spc="-24">
                <a:solidFill>
                  <a:srgbClr val="000000"/>
                </a:solidFill>
                <a:latin typeface="Fira Sans Medium"/>
                <a:ea typeface="Fira Sans Medium"/>
                <a:cs typeface="Fira Sans Medium"/>
                <a:sym typeface="Fira Sans Medium"/>
              </a:rPr>
              <a:t>Motion Tracking Devices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7322272" y="6141296"/>
            <a:ext cx="3643456" cy="3714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99"/>
              </a:lnSpc>
              <a:spcBef>
                <a:spcPct val="0"/>
              </a:spcBef>
            </a:pPr>
            <a:r>
              <a:rPr lang="en-US" sz="2499" spc="-24">
                <a:solidFill>
                  <a:srgbClr val="000000"/>
                </a:solidFill>
                <a:latin typeface="Fira Sans Medium"/>
                <a:ea typeface="Fira Sans Medium"/>
                <a:cs typeface="Fira Sans Medium"/>
                <a:sym typeface="Fira Sans Medium"/>
              </a:rPr>
              <a:t>Unreal Engine 5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5354470" y="3588596"/>
            <a:ext cx="7579061" cy="3714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99"/>
              </a:lnSpc>
              <a:spcBef>
                <a:spcPct val="0"/>
              </a:spcBef>
            </a:pPr>
            <a:r>
              <a:rPr lang="en-US" sz="2499" spc="-24">
                <a:solidFill>
                  <a:srgbClr val="000000"/>
                </a:solidFill>
                <a:latin typeface="Fira Sans Medium"/>
                <a:ea typeface="Fira Sans Medium"/>
                <a:cs typeface="Fira Sans Medium"/>
                <a:sym typeface="Fira Sans Medium"/>
              </a:rPr>
              <a:t>Filtering Methods - Kalman filter and One Euro filter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6789475" y="4864946"/>
            <a:ext cx="4709050" cy="3714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99"/>
              </a:lnSpc>
              <a:spcBef>
                <a:spcPct val="0"/>
              </a:spcBef>
            </a:pPr>
            <a:r>
              <a:rPr lang="en-US" sz="2499" spc="-24">
                <a:solidFill>
                  <a:srgbClr val="000000"/>
                </a:solidFill>
                <a:latin typeface="Fira Sans Medium"/>
                <a:ea typeface="Fira Sans Medium"/>
                <a:cs typeface="Fira Sans Medium"/>
                <a:sym typeface="Fira Sans Medium"/>
              </a:rPr>
              <a:t>Evaluation Metrics - MDCSS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4F4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3821567" y="3707820"/>
            <a:ext cx="2889646" cy="938114"/>
            <a:chOff x="0" y="0"/>
            <a:chExt cx="5895299" cy="191389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5895299" cy="1913890"/>
            </a:xfrm>
            <a:custGeom>
              <a:avLst/>
              <a:gdLst/>
              <a:ahLst/>
              <a:cxnLst/>
              <a:rect r="r" b="b" t="t" l="l"/>
              <a:pathLst>
                <a:path h="1913890" w="5895299">
                  <a:moveTo>
                    <a:pt x="5895299" y="956945"/>
                  </a:moveTo>
                  <a:cubicBezTo>
                    <a:pt x="5895299" y="1485392"/>
                    <a:pt x="5466928" y="1913890"/>
                    <a:pt x="4938354" y="1913890"/>
                  </a:cubicBezTo>
                  <a:lnTo>
                    <a:pt x="956945" y="1913890"/>
                  </a:lnTo>
                  <a:cubicBezTo>
                    <a:pt x="428371" y="1913890"/>
                    <a:pt x="0" y="1485392"/>
                    <a:pt x="0" y="956945"/>
                  </a:cubicBezTo>
                  <a:cubicBezTo>
                    <a:pt x="0" y="428371"/>
                    <a:pt x="428371" y="0"/>
                    <a:pt x="956945" y="0"/>
                  </a:cubicBezTo>
                  <a:lnTo>
                    <a:pt x="4938354" y="0"/>
                  </a:lnTo>
                  <a:cubicBezTo>
                    <a:pt x="5466802" y="0"/>
                    <a:pt x="5895299" y="428371"/>
                    <a:pt x="5895299" y="956945"/>
                  </a:cubicBezTo>
                  <a:close/>
                </a:path>
              </a:pathLst>
            </a:custGeom>
            <a:solidFill>
              <a:srgbClr val="A4E473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7607682" y="3707820"/>
            <a:ext cx="2490049" cy="938114"/>
            <a:chOff x="0" y="0"/>
            <a:chExt cx="5080062" cy="191389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5080062" cy="1913890"/>
            </a:xfrm>
            <a:custGeom>
              <a:avLst/>
              <a:gdLst/>
              <a:ahLst/>
              <a:cxnLst/>
              <a:rect r="r" b="b" t="t" l="l"/>
              <a:pathLst>
                <a:path h="1913890" w="5080062">
                  <a:moveTo>
                    <a:pt x="5080062" y="956945"/>
                  </a:moveTo>
                  <a:cubicBezTo>
                    <a:pt x="5080062" y="1485392"/>
                    <a:pt x="4651690" y="1913890"/>
                    <a:pt x="4123117" y="1913890"/>
                  </a:cubicBezTo>
                  <a:lnTo>
                    <a:pt x="956945" y="1913890"/>
                  </a:lnTo>
                  <a:cubicBezTo>
                    <a:pt x="428371" y="1913890"/>
                    <a:pt x="0" y="1485392"/>
                    <a:pt x="0" y="956945"/>
                  </a:cubicBezTo>
                  <a:cubicBezTo>
                    <a:pt x="0" y="428371"/>
                    <a:pt x="428371" y="0"/>
                    <a:pt x="956945" y="0"/>
                  </a:cubicBezTo>
                  <a:lnTo>
                    <a:pt x="4123117" y="0"/>
                  </a:lnTo>
                  <a:cubicBezTo>
                    <a:pt x="4651564" y="0"/>
                    <a:pt x="5080062" y="428371"/>
                    <a:pt x="5080062" y="956945"/>
                  </a:cubicBezTo>
                  <a:close/>
                </a:path>
              </a:pathLst>
            </a:custGeom>
            <a:solidFill>
              <a:srgbClr val="6FD2E1"/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9186243" y="6028228"/>
            <a:ext cx="3699088" cy="938114"/>
            <a:chOff x="0" y="0"/>
            <a:chExt cx="7546678" cy="191389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7546678" cy="1913890"/>
            </a:xfrm>
            <a:custGeom>
              <a:avLst/>
              <a:gdLst/>
              <a:ahLst/>
              <a:cxnLst/>
              <a:rect r="r" b="b" t="t" l="l"/>
              <a:pathLst>
                <a:path h="1913890" w="7546678">
                  <a:moveTo>
                    <a:pt x="7546678" y="956945"/>
                  </a:moveTo>
                  <a:cubicBezTo>
                    <a:pt x="7546678" y="1485392"/>
                    <a:pt x="7118307" y="1913890"/>
                    <a:pt x="6589733" y="1913890"/>
                  </a:cubicBezTo>
                  <a:lnTo>
                    <a:pt x="956945" y="1913890"/>
                  </a:lnTo>
                  <a:cubicBezTo>
                    <a:pt x="428371" y="1913890"/>
                    <a:pt x="0" y="1485392"/>
                    <a:pt x="0" y="956945"/>
                  </a:cubicBezTo>
                  <a:cubicBezTo>
                    <a:pt x="0" y="428371"/>
                    <a:pt x="428371" y="0"/>
                    <a:pt x="956945" y="0"/>
                  </a:cubicBezTo>
                  <a:lnTo>
                    <a:pt x="6589733" y="0"/>
                  </a:lnTo>
                  <a:cubicBezTo>
                    <a:pt x="7118180" y="0"/>
                    <a:pt x="7546678" y="428371"/>
                    <a:pt x="7546678" y="956945"/>
                  </a:cubicBezTo>
                  <a:close/>
                </a:path>
              </a:pathLst>
            </a:custGeom>
            <a:solidFill>
              <a:srgbClr val="6FD2E1"/>
            </a:solidFill>
          </p:spPr>
        </p:sp>
      </p:grpSp>
      <p:grpSp>
        <p:nvGrpSpPr>
          <p:cNvPr name="Group 8" id="8"/>
          <p:cNvGrpSpPr/>
          <p:nvPr/>
        </p:nvGrpSpPr>
        <p:grpSpPr>
          <a:xfrm rot="0">
            <a:off x="11289137" y="3718945"/>
            <a:ext cx="3177296" cy="938114"/>
            <a:chOff x="0" y="0"/>
            <a:chExt cx="6482146" cy="191389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6482146" cy="1913890"/>
            </a:xfrm>
            <a:custGeom>
              <a:avLst/>
              <a:gdLst/>
              <a:ahLst/>
              <a:cxnLst/>
              <a:rect r="r" b="b" t="t" l="l"/>
              <a:pathLst>
                <a:path h="1913890" w="6482146">
                  <a:moveTo>
                    <a:pt x="6482146" y="956945"/>
                  </a:moveTo>
                  <a:cubicBezTo>
                    <a:pt x="6482146" y="1485392"/>
                    <a:pt x="6053775" y="1913890"/>
                    <a:pt x="5525201" y="1913890"/>
                  </a:cubicBezTo>
                  <a:lnTo>
                    <a:pt x="956945" y="1913890"/>
                  </a:lnTo>
                  <a:cubicBezTo>
                    <a:pt x="428371" y="1913890"/>
                    <a:pt x="0" y="1485392"/>
                    <a:pt x="0" y="956945"/>
                  </a:cubicBezTo>
                  <a:cubicBezTo>
                    <a:pt x="0" y="428371"/>
                    <a:pt x="428371" y="0"/>
                    <a:pt x="956945" y="0"/>
                  </a:cubicBezTo>
                  <a:lnTo>
                    <a:pt x="5525201" y="0"/>
                  </a:lnTo>
                  <a:cubicBezTo>
                    <a:pt x="6053648" y="0"/>
                    <a:pt x="6482146" y="428371"/>
                    <a:pt x="6482146" y="956945"/>
                  </a:cubicBezTo>
                  <a:close/>
                </a:path>
              </a:pathLst>
            </a:custGeom>
            <a:solidFill>
              <a:srgbClr val="6FD2E1"/>
            </a:solidFill>
          </p:spPr>
        </p:sp>
      </p:grpSp>
      <p:sp>
        <p:nvSpPr>
          <p:cNvPr name="Freeform 10" id="10"/>
          <p:cNvSpPr/>
          <p:nvPr/>
        </p:nvSpPr>
        <p:spPr>
          <a:xfrm flipH="false" flipV="false" rot="0">
            <a:off x="-3529745" y="-1022055"/>
            <a:ext cx="19846242" cy="1299027"/>
          </a:xfrm>
          <a:custGeom>
            <a:avLst/>
            <a:gdLst/>
            <a:ahLst/>
            <a:cxnLst/>
            <a:rect r="r" b="b" t="t" l="l"/>
            <a:pathLst>
              <a:path h="1299027" w="19846242">
                <a:moveTo>
                  <a:pt x="0" y="0"/>
                </a:moveTo>
                <a:lnTo>
                  <a:pt x="19846242" y="0"/>
                </a:lnTo>
                <a:lnTo>
                  <a:pt x="19846242" y="1299027"/>
                </a:lnTo>
                <a:lnTo>
                  <a:pt x="0" y="129902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1" id="11"/>
          <p:cNvGrpSpPr/>
          <p:nvPr/>
        </p:nvGrpSpPr>
        <p:grpSpPr>
          <a:xfrm rot="0">
            <a:off x="16035716" y="-1022055"/>
            <a:ext cx="3423948" cy="2965155"/>
            <a:chOff x="0" y="0"/>
            <a:chExt cx="3619627" cy="3134614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3619627" cy="3134614"/>
            </a:xfrm>
            <a:custGeom>
              <a:avLst/>
              <a:gdLst/>
              <a:ahLst/>
              <a:cxnLst/>
              <a:rect r="r" b="b" t="t" l="l"/>
              <a:pathLst>
                <a:path h="3134614" w="3619627">
                  <a:moveTo>
                    <a:pt x="3619627" y="1567307"/>
                  </a:moveTo>
                  <a:lnTo>
                    <a:pt x="2714752" y="3134614"/>
                  </a:lnTo>
                  <a:lnTo>
                    <a:pt x="904875" y="3134614"/>
                  </a:lnTo>
                  <a:lnTo>
                    <a:pt x="0" y="1567307"/>
                  </a:lnTo>
                  <a:lnTo>
                    <a:pt x="904875" y="0"/>
                  </a:lnTo>
                  <a:lnTo>
                    <a:pt x="2714625" y="0"/>
                  </a:lnTo>
                  <a:lnTo>
                    <a:pt x="3619627" y="1567307"/>
                  </a:lnTo>
                  <a:close/>
                </a:path>
              </a:pathLst>
            </a:custGeom>
            <a:solidFill>
              <a:srgbClr val="004651"/>
            </a:solidFill>
          </p:spPr>
        </p:sp>
      </p:grpSp>
      <p:grpSp>
        <p:nvGrpSpPr>
          <p:cNvPr name="Group 13" id="13"/>
          <p:cNvGrpSpPr/>
          <p:nvPr/>
        </p:nvGrpSpPr>
        <p:grpSpPr>
          <a:xfrm rot="0">
            <a:off x="15373694" y="-355949"/>
            <a:ext cx="1885606" cy="1632943"/>
            <a:chOff x="0" y="0"/>
            <a:chExt cx="3619627" cy="3134614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3619627" cy="3134614"/>
            </a:xfrm>
            <a:custGeom>
              <a:avLst/>
              <a:gdLst/>
              <a:ahLst/>
              <a:cxnLst/>
              <a:rect r="r" b="b" t="t" l="l"/>
              <a:pathLst>
                <a:path h="3134614" w="3619627">
                  <a:moveTo>
                    <a:pt x="3619627" y="1567307"/>
                  </a:moveTo>
                  <a:lnTo>
                    <a:pt x="2714752" y="3134614"/>
                  </a:lnTo>
                  <a:lnTo>
                    <a:pt x="904875" y="3134614"/>
                  </a:lnTo>
                  <a:lnTo>
                    <a:pt x="0" y="1567307"/>
                  </a:lnTo>
                  <a:lnTo>
                    <a:pt x="904875" y="0"/>
                  </a:lnTo>
                  <a:lnTo>
                    <a:pt x="2714625" y="0"/>
                  </a:lnTo>
                  <a:lnTo>
                    <a:pt x="3619627" y="1567307"/>
                  </a:lnTo>
                  <a:close/>
                </a:path>
              </a:pathLst>
            </a:custGeom>
            <a:solidFill>
              <a:srgbClr val="00A181"/>
            </a:solidFill>
          </p:spPr>
        </p:sp>
      </p:grpSp>
      <p:sp>
        <p:nvSpPr>
          <p:cNvPr name="Freeform 15" id="15"/>
          <p:cNvSpPr/>
          <p:nvPr/>
        </p:nvSpPr>
        <p:spPr>
          <a:xfrm flipH="false" flipV="false" rot="2700000">
            <a:off x="5450606" y="5118374"/>
            <a:ext cx="1087687" cy="440513"/>
          </a:xfrm>
          <a:custGeom>
            <a:avLst/>
            <a:gdLst/>
            <a:ahLst/>
            <a:cxnLst/>
            <a:rect r="r" b="b" t="t" l="l"/>
            <a:pathLst>
              <a:path h="440513" w="1087687">
                <a:moveTo>
                  <a:pt x="0" y="0"/>
                </a:moveTo>
                <a:lnTo>
                  <a:pt x="1087688" y="0"/>
                </a:lnTo>
                <a:lnTo>
                  <a:pt x="1087688" y="440514"/>
                </a:lnTo>
                <a:lnTo>
                  <a:pt x="0" y="440514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6" id="16"/>
          <p:cNvSpPr txBox="true"/>
          <p:nvPr/>
        </p:nvSpPr>
        <p:spPr>
          <a:xfrm rot="0">
            <a:off x="6614434" y="1447800"/>
            <a:ext cx="5059131" cy="6445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199"/>
              </a:lnSpc>
              <a:spcBef>
                <a:spcPct val="0"/>
              </a:spcBef>
            </a:pPr>
            <a:r>
              <a:rPr lang="en-US" sz="3999" spc="-39" u="sng">
                <a:solidFill>
                  <a:srgbClr val="000000"/>
                </a:solidFill>
                <a:latin typeface="Fira Sans Medium"/>
                <a:ea typeface="Fira Sans Medium"/>
                <a:cs typeface="Fira Sans Medium"/>
                <a:sym typeface="Fira Sans Medium"/>
              </a:rPr>
              <a:t>Methodology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4189631" y="3826697"/>
            <a:ext cx="2153519" cy="6845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77"/>
              </a:lnSpc>
            </a:pPr>
            <a:r>
              <a:rPr lang="en-US" sz="1983">
                <a:solidFill>
                  <a:srgbClr val="000000"/>
                </a:solidFill>
                <a:latin typeface="Fira Sans Medium"/>
                <a:ea typeface="Fira Sans Medium"/>
                <a:cs typeface="Fira Sans Medium"/>
                <a:sym typeface="Fira Sans Medium"/>
              </a:rPr>
              <a:t>Record Video with Standard Webcam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7924848" y="3826697"/>
            <a:ext cx="1855717" cy="6845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77"/>
              </a:lnSpc>
            </a:pPr>
            <a:r>
              <a:rPr lang="en-US" sz="1983">
                <a:solidFill>
                  <a:srgbClr val="000000"/>
                </a:solidFill>
                <a:latin typeface="Fira Sans Medium"/>
                <a:ea typeface="Fira Sans Medium"/>
                <a:cs typeface="Fira Sans Medium"/>
                <a:sym typeface="Fira Sans Medium"/>
              </a:rPr>
              <a:t>Setup Unreal Engine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9657408" y="6147105"/>
            <a:ext cx="2756758" cy="6845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77"/>
              </a:lnSpc>
            </a:pPr>
            <a:r>
              <a:rPr lang="en-US" sz="1983">
                <a:solidFill>
                  <a:srgbClr val="000000"/>
                </a:solidFill>
                <a:latin typeface="Fira Sans Medium"/>
                <a:ea typeface="Fira Sans Medium"/>
                <a:cs typeface="Fira Sans Medium"/>
                <a:sym typeface="Fira Sans Medium"/>
              </a:rPr>
              <a:t>Integrate MediaPipe Data into Unreal Engine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11693307" y="3826697"/>
            <a:ext cx="2384047" cy="66226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67"/>
              </a:lnSpc>
            </a:pPr>
            <a:r>
              <a:rPr lang="en-US" sz="1905">
                <a:solidFill>
                  <a:srgbClr val="000000"/>
                </a:solidFill>
                <a:latin typeface="Fira Sans Medium"/>
                <a:ea typeface="Fira Sans Medium"/>
                <a:cs typeface="Fira Sans Medium"/>
                <a:sym typeface="Fira Sans Medium"/>
              </a:rPr>
              <a:t>Visualization for Baseline Comparison</a:t>
            </a:r>
          </a:p>
        </p:txBody>
      </p:sp>
      <p:sp>
        <p:nvSpPr>
          <p:cNvPr name="Freeform 21" id="21"/>
          <p:cNvSpPr/>
          <p:nvPr/>
        </p:nvSpPr>
        <p:spPr>
          <a:xfrm flipH="false" flipV="false" rot="-3463864">
            <a:off x="7540431" y="5219405"/>
            <a:ext cx="1087687" cy="440513"/>
          </a:xfrm>
          <a:custGeom>
            <a:avLst/>
            <a:gdLst/>
            <a:ahLst/>
            <a:cxnLst/>
            <a:rect r="r" b="b" t="t" l="l"/>
            <a:pathLst>
              <a:path h="440513" w="1087687">
                <a:moveTo>
                  <a:pt x="0" y="0"/>
                </a:moveTo>
                <a:lnTo>
                  <a:pt x="1087688" y="0"/>
                </a:lnTo>
                <a:lnTo>
                  <a:pt x="1087688" y="440513"/>
                </a:lnTo>
                <a:lnTo>
                  <a:pt x="0" y="440513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2" id="22"/>
          <p:cNvSpPr/>
          <p:nvPr/>
        </p:nvSpPr>
        <p:spPr>
          <a:xfrm flipH="false" flipV="false" rot="-3463864">
            <a:off x="11102541" y="5219405"/>
            <a:ext cx="1087687" cy="440513"/>
          </a:xfrm>
          <a:custGeom>
            <a:avLst/>
            <a:gdLst/>
            <a:ahLst/>
            <a:cxnLst/>
            <a:rect r="r" b="b" t="t" l="l"/>
            <a:pathLst>
              <a:path h="440513" w="1087687">
                <a:moveTo>
                  <a:pt x="0" y="0"/>
                </a:moveTo>
                <a:lnTo>
                  <a:pt x="1087687" y="0"/>
                </a:lnTo>
                <a:lnTo>
                  <a:pt x="1087687" y="440513"/>
                </a:lnTo>
                <a:lnTo>
                  <a:pt x="0" y="440513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3" id="23"/>
          <p:cNvSpPr/>
          <p:nvPr/>
        </p:nvSpPr>
        <p:spPr>
          <a:xfrm flipH="false" flipV="false" rot="2700000">
            <a:off x="9469959" y="5182264"/>
            <a:ext cx="1087687" cy="440513"/>
          </a:xfrm>
          <a:custGeom>
            <a:avLst/>
            <a:gdLst/>
            <a:ahLst/>
            <a:cxnLst/>
            <a:rect r="r" b="b" t="t" l="l"/>
            <a:pathLst>
              <a:path h="440513" w="1087687">
                <a:moveTo>
                  <a:pt x="0" y="0"/>
                </a:moveTo>
                <a:lnTo>
                  <a:pt x="1087687" y="0"/>
                </a:lnTo>
                <a:lnTo>
                  <a:pt x="1087687" y="440513"/>
                </a:lnTo>
                <a:lnTo>
                  <a:pt x="0" y="440513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24" id="24"/>
          <p:cNvGrpSpPr/>
          <p:nvPr/>
        </p:nvGrpSpPr>
        <p:grpSpPr>
          <a:xfrm rot="0">
            <a:off x="5748544" y="6028228"/>
            <a:ext cx="2490049" cy="938114"/>
            <a:chOff x="0" y="0"/>
            <a:chExt cx="5080062" cy="1913890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5080062" cy="1913890"/>
            </a:xfrm>
            <a:custGeom>
              <a:avLst/>
              <a:gdLst/>
              <a:ahLst/>
              <a:cxnLst/>
              <a:rect r="r" b="b" t="t" l="l"/>
              <a:pathLst>
                <a:path h="1913890" w="5080062">
                  <a:moveTo>
                    <a:pt x="5080062" y="956945"/>
                  </a:moveTo>
                  <a:cubicBezTo>
                    <a:pt x="5080062" y="1485392"/>
                    <a:pt x="4651690" y="1913890"/>
                    <a:pt x="4123117" y="1913890"/>
                  </a:cubicBezTo>
                  <a:lnTo>
                    <a:pt x="956945" y="1913890"/>
                  </a:lnTo>
                  <a:cubicBezTo>
                    <a:pt x="428371" y="1913890"/>
                    <a:pt x="0" y="1485392"/>
                    <a:pt x="0" y="956945"/>
                  </a:cubicBezTo>
                  <a:cubicBezTo>
                    <a:pt x="0" y="428371"/>
                    <a:pt x="428371" y="0"/>
                    <a:pt x="956945" y="0"/>
                  </a:cubicBezTo>
                  <a:lnTo>
                    <a:pt x="4123117" y="0"/>
                  </a:lnTo>
                  <a:cubicBezTo>
                    <a:pt x="4651564" y="0"/>
                    <a:pt x="5080062" y="428371"/>
                    <a:pt x="5080062" y="956945"/>
                  </a:cubicBezTo>
                  <a:close/>
                </a:path>
              </a:pathLst>
            </a:custGeom>
            <a:solidFill>
              <a:srgbClr val="6FD2E1"/>
            </a:solidFill>
          </p:spPr>
        </p:sp>
      </p:grpSp>
      <p:sp>
        <p:nvSpPr>
          <p:cNvPr name="TextBox 26" id="26"/>
          <p:cNvSpPr txBox="true"/>
          <p:nvPr/>
        </p:nvSpPr>
        <p:spPr>
          <a:xfrm rot="0">
            <a:off x="6065710" y="6147105"/>
            <a:ext cx="1855717" cy="6845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77"/>
              </a:lnSpc>
            </a:pPr>
            <a:r>
              <a:rPr lang="en-US" sz="1983">
                <a:solidFill>
                  <a:srgbClr val="000000"/>
                </a:solidFill>
                <a:latin typeface="Fira Sans Medium"/>
                <a:ea typeface="Fira Sans Medium"/>
                <a:cs typeface="Fira Sans Medium"/>
                <a:sym typeface="Fira Sans Medium"/>
              </a:rPr>
              <a:t>MediaPipe Data with Python</a:t>
            </a:r>
          </a:p>
        </p:txBody>
      </p:sp>
      <p:sp>
        <p:nvSpPr>
          <p:cNvPr name="Freeform 27" id="27"/>
          <p:cNvSpPr/>
          <p:nvPr/>
        </p:nvSpPr>
        <p:spPr>
          <a:xfrm flipH="false" flipV="false" rot="0">
            <a:off x="15020193" y="3894696"/>
            <a:ext cx="2031048" cy="822574"/>
          </a:xfrm>
          <a:custGeom>
            <a:avLst/>
            <a:gdLst/>
            <a:ahLst/>
            <a:cxnLst/>
            <a:rect r="r" b="b" t="t" l="l"/>
            <a:pathLst>
              <a:path h="822574" w="2031048">
                <a:moveTo>
                  <a:pt x="0" y="0"/>
                </a:moveTo>
                <a:lnTo>
                  <a:pt x="2031047" y="0"/>
                </a:lnTo>
                <a:lnTo>
                  <a:pt x="2031047" y="822574"/>
                </a:lnTo>
                <a:lnTo>
                  <a:pt x="0" y="822574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4F4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3821567" y="3707820"/>
            <a:ext cx="2889646" cy="938114"/>
            <a:chOff x="0" y="0"/>
            <a:chExt cx="5895299" cy="191389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5895299" cy="1913890"/>
            </a:xfrm>
            <a:custGeom>
              <a:avLst/>
              <a:gdLst/>
              <a:ahLst/>
              <a:cxnLst/>
              <a:rect r="r" b="b" t="t" l="l"/>
              <a:pathLst>
                <a:path h="1913890" w="5895299">
                  <a:moveTo>
                    <a:pt x="5895299" y="956945"/>
                  </a:moveTo>
                  <a:cubicBezTo>
                    <a:pt x="5895299" y="1485392"/>
                    <a:pt x="5466928" y="1913890"/>
                    <a:pt x="4938354" y="1913890"/>
                  </a:cubicBezTo>
                  <a:lnTo>
                    <a:pt x="956945" y="1913890"/>
                  </a:lnTo>
                  <a:cubicBezTo>
                    <a:pt x="428371" y="1913890"/>
                    <a:pt x="0" y="1485392"/>
                    <a:pt x="0" y="956945"/>
                  </a:cubicBezTo>
                  <a:cubicBezTo>
                    <a:pt x="0" y="428371"/>
                    <a:pt x="428371" y="0"/>
                    <a:pt x="956945" y="0"/>
                  </a:cubicBezTo>
                  <a:lnTo>
                    <a:pt x="4938354" y="0"/>
                  </a:lnTo>
                  <a:cubicBezTo>
                    <a:pt x="5466802" y="0"/>
                    <a:pt x="5895299" y="428371"/>
                    <a:pt x="5895299" y="956945"/>
                  </a:cubicBezTo>
                  <a:close/>
                </a:path>
              </a:pathLst>
            </a:custGeom>
            <a:solidFill>
              <a:srgbClr val="6FD2E1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7607682" y="3707820"/>
            <a:ext cx="2490049" cy="938114"/>
            <a:chOff x="0" y="0"/>
            <a:chExt cx="5080062" cy="191389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5080062" cy="1913890"/>
            </a:xfrm>
            <a:custGeom>
              <a:avLst/>
              <a:gdLst/>
              <a:ahLst/>
              <a:cxnLst/>
              <a:rect r="r" b="b" t="t" l="l"/>
              <a:pathLst>
                <a:path h="1913890" w="5080062">
                  <a:moveTo>
                    <a:pt x="5080062" y="956945"/>
                  </a:moveTo>
                  <a:cubicBezTo>
                    <a:pt x="5080062" y="1485392"/>
                    <a:pt x="4651690" y="1913890"/>
                    <a:pt x="4123117" y="1913890"/>
                  </a:cubicBezTo>
                  <a:lnTo>
                    <a:pt x="956945" y="1913890"/>
                  </a:lnTo>
                  <a:cubicBezTo>
                    <a:pt x="428371" y="1913890"/>
                    <a:pt x="0" y="1485392"/>
                    <a:pt x="0" y="956945"/>
                  </a:cubicBezTo>
                  <a:cubicBezTo>
                    <a:pt x="0" y="428371"/>
                    <a:pt x="428371" y="0"/>
                    <a:pt x="956945" y="0"/>
                  </a:cubicBezTo>
                  <a:lnTo>
                    <a:pt x="4123117" y="0"/>
                  </a:lnTo>
                  <a:cubicBezTo>
                    <a:pt x="4651564" y="0"/>
                    <a:pt x="5080062" y="428371"/>
                    <a:pt x="5080062" y="956945"/>
                  </a:cubicBezTo>
                  <a:close/>
                </a:path>
              </a:pathLst>
            </a:custGeom>
            <a:solidFill>
              <a:srgbClr val="6FD2E1"/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9186243" y="6028228"/>
            <a:ext cx="3699088" cy="938114"/>
            <a:chOff x="0" y="0"/>
            <a:chExt cx="7546678" cy="191389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7546678" cy="1913890"/>
            </a:xfrm>
            <a:custGeom>
              <a:avLst/>
              <a:gdLst/>
              <a:ahLst/>
              <a:cxnLst/>
              <a:rect r="r" b="b" t="t" l="l"/>
              <a:pathLst>
                <a:path h="1913890" w="7546678">
                  <a:moveTo>
                    <a:pt x="7546678" y="956945"/>
                  </a:moveTo>
                  <a:cubicBezTo>
                    <a:pt x="7546678" y="1485392"/>
                    <a:pt x="7118307" y="1913890"/>
                    <a:pt x="6589733" y="1913890"/>
                  </a:cubicBezTo>
                  <a:lnTo>
                    <a:pt x="956945" y="1913890"/>
                  </a:lnTo>
                  <a:cubicBezTo>
                    <a:pt x="428371" y="1913890"/>
                    <a:pt x="0" y="1485392"/>
                    <a:pt x="0" y="956945"/>
                  </a:cubicBezTo>
                  <a:cubicBezTo>
                    <a:pt x="0" y="428371"/>
                    <a:pt x="428371" y="0"/>
                    <a:pt x="956945" y="0"/>
                  </a:cubicBezTo>
                  <a:lnTo>
                    <a:pt x="6589733" y="0"/>
                  </a:lnTo>
                  <a:cubicBezTo>
                    <a:pt x="7118180" y="0"/>
                    <a:pt x="7546678" y="428371"/>
                    <a:pt x="7546678" y="956945"/>
                  </a:cubicBezTo>
                  <a:close/>
                </a:path>
              </a:pathLst>
            </a:custGeom>
            <a:solidFill>
              <a:srgbClr val="6FD2E1"/>
            </a:solidFill>
          </p:spPr>
        </p:sp>
      </p:grpSp>
      <p:grpSp>
        <p:nvGrpSpPr>
          <p:cNvPr name="Group 8" id="8"/>
          <p:cNvGrpSpPr/>
          <p:nvPr/>
        </p:nvGrpSpPr>
        <p:grpSpPr>
          <a:xfrm rot="0">
            <a:off x="11289137" y="3718945"/>
            <a:ext cx="3177296" cy="938114"/>
            <a:chOff x="0" y="0"/>
            <a:chExt cx="6482146" cy="191389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6482146" cy="1913890"/>
            </a:xfrm>
            <a:custGeom>
              <a:avLst/>
              <a:gdLst/>
              <a:ahLst/>
              <a:cxnLst/>
              <a:rect r="r" b="b" t="t" l="l"/>
              <a:pathLst>
                <a:path h="1913890" w="6482146">
                  <a:moveTo>
                    <a:pt x="6482146" y="956945"/>
                  </a:moveTo>
                  <a:cubicBezTo>
                    <a:pt x="6482146" y="1485392"/>
                    <a:pt x="6053775" y="1913890"/>
                    <a:pt x="5525201" y="1913890"/>
                  </a:cubicBezTo>
                  <a:lnTo>
                    <a:pt x="956945" y="1913890"/>
                  </a:lnTo>
                  <a:cubicBezTo>
                    <a:pt x="428371" y="1913890"/>
                    <a:pt x="0" y="1485392"/>
                    <a:pt x="0" y="956945"/>
                  </a:cubicBezTo>
                  <a:cubicBezTo>
                    <a:pt x="0" y="428371"/>
                    <a:pt x="428371" y="0"/>
                    <a:pt x="956945" y="0"/>
                  </a:cubicBezTo>
                  <a:lnTo>
                    <a:pt x="5525201" y="0"/>
                  </a:lnTo>
                  <a:cubicBezTo>
                    <a:pt x="6053648" y="0"/>
                    <a:pt x="6482146" y="428371"/>
                    <a:pt x="6482146" y="956945"/>
                  </a:cubicBezTo>
                  <a:close/>
                </a:path>
              </a:pathLst>
            </a:custGeom>
            <a:solidFill>
              <a:srgbClr val="6FD2E1"/>
            </a:solidFill>
          </p:spPr>
        </p:sp>
      </p:grpSp>
      <p:sp>
        <p:nvSpPr>
          <p:cNvPr name="Freeform 10" id="10"/>
          <p:cNvSpPr/>
          <p:nvPr/>
        </p:nvSpPr>
        <p:spPr>
          <a:xfrm flipH="false" flipV="false" rot="0">
            <a:off x="-3529745" y="-1022055"/>
            <a:ext cx="19846242" cy="1299027"/>
          </a:xfrm>
          <a:custGeom>
            <a:avLst/>
            <a:gdLst/>
            <a:ahLst/>
            <a:cxnLst/>
            <a:rect r="r" b="b" t="t" l="l"/>
            <a:pathLst>
              <a:path h="1299027" w="19846242">
                <a:moveTo>
                  <a:pt x="0" y="0"/>
                </a:moveTo>
                <a:lnTo>
                  <a:pt x="19846242" y="0"/>
                </a:lnTo>
                <a:lnTo>
                  <a:pt x="19846242" y="1299027"/>
                </a:lnTo>
                <a:lnTo>
                  <a:pt x="0" y="129902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1" id="11"/>
          <p:cNvGrpSpPr/>
          <p:nvPr/>
        </p:nvGrpSpPr>
        <p:grpSpPr>
          <a:xfrm rot="0">
            <a:off x="16035716" y="-1022055"/>
            <a:ext cx="3423948" cy="2965155"/>
            <a:chOff x="0" y="0"/>
            <a:chExt cx="3619627" cy="3134614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3619627" cy="3134614"/>
            </a:xfrm>
            <a:custGeom>
              <a:avLst/>
              <a:gdLst/>
              <a:ahLst/>
              <a:cxnLst/>
              <a:rect r="r" b="b" t="t" l="l"/>
              <a:pathLst>
                <a:path h="3134614" w="3619627">
                  <a:moveTo>
                    <a:pt x="3619627" y="1567307"/>
                  </a:moveTo>
                  <a:lnTo>
                    <a:pt x="2714752" y="3134614"/>
                  </a:lnTo>
                  <a:lnTo>
                    <a:pt x="904875" y="3134614"/>
                  </a:lnTo>
                  <a:lnTo>
                    <a:pt x="0" y="1567307"/>
                  </a:lnTo>
                  <a:lnTo>
                    <a:pt x="904875" y="0"/>
                  </a:lnTo>
                  <a:lnTo>
                    <a:pt x="2714625" y="0"/>
                  </a:lnTo>
                  <a:lnTo>
                    <a:pt x="3619627" y="1567307"/>
                  </a:lnTo>
                  <a:close/>
                </a:path>
              </a:pathLst>
            </a:custGeom>
            <a:solidFill>
              <a:srgbClr val="004651"/>
            </a:solidFill>
          </p:spPr>
        </p:sp>
      </p:grpSp>
      <p:grpSp>
        <p:nvGrpSpPr>
          <p:cNvPr name="Group 13" id="13"/>
          <p:cNvGrpSpPr/>
          <p:nvPr/>
        </p:nvGrpSpPr>
        <p:grpSpPr>
          <a:xfrm rot="0">
            <a:off x="15373694" y="-355949"/>
            <a:ext cx="1885606" cy="1632943"/>
            <a:chOff x="0" y="0"/>
            <a:chExt cx="3619627" cy="3134614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3619627" cy="3134614"/>
            </a:xfrm>
            <a:custGeom>
              <a:avLst/>
              <a:gdLst/>
              <a:ahLst/>
              <a:cxnLst/>
              <a:rect r="r" b="b" t="t" l="l"/>
              <a:pathLst>
                <a:path h="3134614" w="3619627">
                  <a:moveTo>
                    <a:pt x="3619627" y="1567307"/>
                  </a:moveTo>
                  <a:lnTo>
                    <a:pt x="2714752" y="3134614"/>
                  </a:lnTo>
                  <a:lnTo>
                    <a:pt x="904875" y="3134614"/>
                  </a:lnTo>
                  <a:lnTo>
                    <a:pt x="0" y="1567307"/>
                  </a:lnTo>
                  <a:lnTo>
                    <a:pt x="904875" y="0"/>
                  </a:lnTo>
                  <a:lnTo>
                    <a:pt x="2714625" y="0"/>
                  </a:lnTo>
                  <a:lnTo>
                    <a:pt x="3619627" y="1567307"/>
                  </a:lnTo>
                  <a:close/>
                </a:path>
              </a:pathLst>
            </a:custGeom>
            <a:solidFill>
              <a:srgbClr val="00A181"/>
            </a:solidFill>
          </p:spPr>
        </p:sp>
      </p:grpSp>
      <p:sp>
        <p:nvSpPr>
          <p:cNvPr name="Freeform 15" id="15"/>
          <p:cNvSpPr/>
          <p:nvPr/>
        </p:nvSpPr>
        <p:spPr>
          <a:xfrm flipH="false" flipV="false" rot="2700000">
            <a:off x="5450606" y="5118374"/>
            <a:ext cx="1087687" cy="440513"/>
          </a:xfrm>
          <a:custGeom>
            <a:avLst/>
            <a:gdLst/>
            <a:ahLst/>
            <a:cxnLst/>
            <a:rect r="r" b="b" t="t" l="l"/>
            <a:pathLst>
              <a:path h="440513" w="1087687">
                <a:moveTo>
                  <a:pt x="0" y="0"/>
                </a:moveTo>
                <a:lnTo>
                  <a:pt x="1087688" y="0"/>
                </a:lnTo>
                <a:lnTo>
                  <a:pt x="1087688" y="440514"/>
                </a:lnTo>
                <a:lnTo>
                  <a:pt x="0" y="440514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6" id="16"/>
          <p:cNvSpPr txBox="true"/>
          <p:nvPr/>
        </p:nvSpPr>
        <p:spPr>
          <a:xfrm rot="0">
            <a:off x="6614434" y="1447800"/>
            <a:ext cx="5059131" cy="6445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199"/>
              </a:lnSpc>
              <a:spcBef>
                <a:spcPct val="0"/>
              </a:spcBef>
            </a:pPr>
            <a:r>
              <a:rPr lang="en-US" sz="3999" spc="-39" u="sng">
                <a:solidFill>
                  <a:srgbClr val="000000"/>
                </a:solidFill>
                <a:latin typeface="Fira Sans Medium"/>
                <a:ea typeface="Fira Sans Medium"/>
                <a:cs typeface="Fira Sans Medium"/>
                <a:sym typeface="Fira Sans Medium"/>
              </a:rPr>
              <a:t>Methodology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4189631" y="3826697"/>
            <a:ext cx="2153519" cy="6845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77"/>
              </a:lnSpc>
            </a:pPr>
            <a:r>
              <a:rPr lang="en-US" sz="1983">
                <a:solidFill>
                  <a:srgbClr val="000000"/>
                </a:solidFill>
                <a:latin typeface="Fira Sans Medium"/>
                <a:ea typeface="Fira Sans Medium"/>
                <a:cs typeface="Fira Sans Medium"/>
                <a:sym typeface="Fira Sans Medium"/>
              </a:rPr>
              <a:t>Record Video with Standard Webcam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7924848" y="3826697"/>
            <a:ext cx="1855717" cy="6845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77"/>
              </a:lnSpc>
            </a:pPr>
            <a:r>
              <a:rPr lang="en-US" sz="1983">
                <a:solidFill>
                  <a:srgbClr val="000000"/>
                </a:solidFill>
                <a:latin typeface="Fira Sans Medium"/>
                <a:ea typeface="Fira Sans Medium"/>
                <a:cs typeface="Fira Sans Medium"/>
                <a:sym typeface="Fira Sans Medium"/>
              </a:rPr>
              <a:t>Setup Unreal Engine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9657408" y="6147105"/>
            <a:ext cx="2756758" cy="6845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77"/>
              </a:lnSpc>
            </a:pPr>
            <a:r>
              <a:rPr lang="en-US" sz="1983">
                <a:solidFill>
                  <a:srgbClr val="000000"/>
                </a:solidFill>
                <a:latin typeface="Fira Sans Medium"/>
                <a:ea typeface="Fira Sans Medium"/>
                <a:cs typeface="Fira Sans Medium"/>
                <a:sym typeface="Fira Sans Medium"/>
              </a:rPr>
              <a:t>Integrate MediaPipe Data into Unreal Engine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11693307" y="3826697"/>
            <a:ext cx="2384047" cy="66226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67"/>
              </a:lnSpc>
            </a:pPr>
            <a:r>
              <a:rPr lang="en-US" sz="1905">
                <a:solidFill>
                  <a:srgbClr val="000000"/>
                </a:solidFill>
                <a:latin typeface="Fira Sans Medium"/>
                <a:ea typeface="Fira Sans Medium"/>
                <a:cs typeface="Fira Sans Medium"/>
                <a:sym typeface="Fira Sans Medium"/>
              </a:rPr>
              <a:t>Visualization for Baseline Comparison</a:t>
            </a:r>
          </a:p>
        </p:txBody>
      </p:sp>
      <p:sp>
        <p:nvSpPr>
          <p:cNvPr name="Freeform 21" id="21"/>
          <p:cNvSpPr/>
          <p:nvPr/>
        </p:nvSpPr>
        <p:spPr>
          <a:xfrm flipH="false" flipV="false" rot="-3463864">
            <a:off x="7540431" y="5219405"/>
            <a:ext cx="1087687" cy="440513"/>
          </a:xfrm>
          <a:custGeom>
            <a:avLst/>
            <a:gdLst/>
            <a:ahLst/>
            <a:cxnLst/>
            <a:rect r="r" b="b" t="t" l="l"/>
            <a:pathLst>
              <a:path h="440513" w="1087687">
                <a:moveTo>
                  <a:pt x="0" y="0"/>
                </a:moveTo>
                <a:lnTo>
                  <a:pt x="1087688" y="0"/>
                </a:lnTo>
                <a:lnTo>
                  <a:pt x="1087688" y="440513"/>
                </a:lnTo>
                <a:lnTo>
                  <a:pt x="0" y="440513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2" id="22"/>
          <p:cNvSpPr/>
          <p:nvPr/>
        </p:nvSpPr>
        <p:spPr>
          <a:xfrm flipH="false" flipV="false" rot="-3463864">
            <a:off x="11102541" y="5219405"/>
            <a:ext cx="1087687" cy="440513"/>
          </a:xfrm>
          <a:custGeom>
            <a:avLst/>
            <a:gdLst/>
            <a:ahLst/>
            <a:cxnLst/>
            <a:rect r="r" b="b" t="t" l="l"/>
            <a:pathLst>
              <a:path h="440513" w="1087687">
                <a:moveTo>
                  <a:pt x="0" y="0"/>
                </a:moveTo>
                <a:lnTo>
                  <a:pt x="1087687" y="0"/>
                </a:lnTo>
                <a:lnTo>
                  <a:pt x="1087687" y="440513"/>
                </a:lnTo>
                <a:lnTo>
                  <a:pt x="0" y="440513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3" id="23"/>
          <p:cNvSpPr/>
          <p:nvPr/>
        </p:nvSpPr>
        <p:spPr>
          <a:xfrm flipH="false" flipV="false" rot="2700000">
            <a:off x="9469959" y="5182264"/>
            <a:ext cx="1087687" cy="440513"/>
          </a:xfrm>
          <a:custGeom>
            <a:avLst/>
            <a:gdLst/>
            <a:ahLst/>
            <a:cxnLst/>
            <a:rect r="r" b="b" t="t" l="l"/>
            <a:pathLst>
              <a:path h="440513" w="1087687">
                <a:moveTo>
                  <a:pt x="0" y="0"/>
                </a:moveTo>
                <a:lnTo>
                  <a:pt x="1087687" y="0"/>
                </a:lnTo>
                <a:lnTo>
                  <a:pt x="1087687" y="440513"/>
                </a:lnTo>
                <a:lnTo>
                  <a:pt x="0" y="440513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24" id="24"/>
          <p:cNvGrpSpPr/>
          <p:nvPr/>
        </p:nvGrpSpPr>
        <p:grpSpPr>
          <a:xfrm rot="0">
            <a:off x="5748544" y="6028228"/>
            <a:ext cx="2490049" cy="938114"/>
            <a:chOff x="0" y="0"/>
            <a:chExt cx="5080062" cy="1913890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5080062" cy="1913890"/>
            </a:xfrm>
            <a:custGeom>
              <a:avLst/>
              <a:gdLst/>
              <a:ahLst/>
              <a:cxnLst/>
              <a:rect r="r" b="b" t="t" l="l"/>
              <a:pathLst>
                <a:path h="1913890" w="5080062">
                  <a:moveTo>
                    <a:pt x="5080062" y="956945"/>
                  </a:moveTo>
                  <a:cubicBezTo>
                    <a:pt x="5080062" y="1485392"/>
                    <a:pt x="4651690" y="1913890"/>
                    <a:pt x="4123117" y="1913890"/>
                  </a:cubicBezTo>
                  <a:lnTo>
                    <a:pt x="956945" y="1913890"/>
                  </a:lnTo>
                  <a:cubicBezTo>
                    <a:pt x="428371" y="1913890"/>
                    <a:pt x="0" y="1485392"/>
                    <a:pt x="0" y="956945"/>
                  </a:cubicBezTo>
                  <a:cubicBezTo>
                    <a:pt x="0" y="428371"/>
                    <a:pt x="428371" y="0"/>
                    <a:pt x="956945" y="0"/>
                  </a:cubicBezTo>
                  <a:lnTo>
                    <a:pt x="4123117" y="0"/>
                  </a:lnTo>
                  <a:cubicBezTo>
                    <a:pt x="4651564" y="0"/>
                    <a:pt x="5080062" y="428371"/>
                    <a:pt x="5080062" y="956945"/>
                  </a:cubicBezTo>
                  <a:close/>
                </a:path>
              </a:pathLst>
            </a:custGeom>
            <a:solidFill>
              <a:srgbClr val="A4E473"/>
            </a:solidFill>
          </p:spPr>
        </p:sp>
      </p:grpSp>
      <p:sp>
        <p:nvSpPr>
          <p:cNvPr name="TextBox 26" id="26"/>
          <p:cNvSpPr txBox="true"/>
          <p:nvPr/>
        </p:nvSpPr>
        <p:spPr>
          <a:xfrm rot="0">
            <a:off x="6065710" y="6147105"/>
            <a:ext cx="1855717" cy="6845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77"/>
              </a:lnSpc>
            </a:pPr>
            <a:r>
              <a:rPr lang="en-US" sz="1983">
                <a:solidFill>
                  <a:srgbClr val="000000"/>
                </a:solidFill>
                <a:latin typeface="Fira Sans Medium"/>
                <a:ea typeface="Fira Sans Medium"/>
                <a:cs typeface="Fira Sans Medium"/>
                <a:sym typeface="Fira Sans Medium"/>
              </a:rPr>
              <a:t>MediaPipe Data with Python</a:t>
            </a:r>
          </a:p>
        </p:txBody>
      </p:sp>
      <p:sp>
        <p:nvSpPr>
          <p:cNvPr name="Freeform 27" id="27"/>
          <p:cNvSpPr/>
          <p:nvPr/>
        </p:nvSpPr>
        <p:spPr>
          <a:xfrm flipH="false" flipV="false" rot="0">
            <a:off x="15020193" y="3894696"/>
            <a:ext cx="2031048" cy="822574"/>
          </a:xfrm>
          <a:custGeom>
            <a:avLst/>
            <a:gdLst/>
            <a:ahLst/>
            <a:cxnLst/>
            <a:rect r="r" b="b" t="t" l="l"/>
            <a:pathLst>
              <a:path h="822574" w="2031048">
                <a:moveTo>
                  <a:pt x="0" y="0"/>
                </a:moveTo>
                <a:lnTo>
                  <a:pt x="2031047" y="0"/>
                </a:lnTo>
                <a:lnTo>
                  <a:pt x="2031047" y="822574"/>
                </a:lnTo>
                <a:lnTo>
                  <a:pt x="0" y="822574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4F4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3821567" y="3707820"/>
            <a:ext cx="2889646" cy="938114"/>
            <a:chOff x="0" y="0"/>
            <a:chExt cx="5895299" cy="191389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5895299" cy="1913890"/>
            </a:xfrm>
            <a:custGeom>
              <a:avLst/>
              <a:gdLst/>
              <a:ahLst/>
              <a:cxnLst/>
              <a:rect r="r" b="b" t="t" l="l"/>
              <a:pathLst>
                <a:path h="1913890" w="5895299">
                  <a:moveTo>
                    <a:pt x="5895299" y="956945"/>
                  </a:moveTo>
                  <a:cubicBezTo>
                    <a:pt x="5895299" y="1485392"/>
                    <a:pt x="5466928" y="1913890"/>
                    <a:pt x="4938354" y="1913890"/>
                  </a:cubicBezTo>
                  <a:lnTo>
                    <a:pt x="956945" y="1913890"/>
                  </a:lnTo>
                  <a:cubicBezTo>
                    <a:pt x="428371" y="1913890"/>
                    <a:pt x="0" y="1485392"/>
                    <a:pt x="0" y="956945"/>
                  </a:cubicBezTo>
                  <a:cubicBezTo>
                    <a:pt x="0" y="428371"/>
                    <a:pt x="428371" y="0"/>
                    <a:pt x="956945" y="0"/>
                  </a:cubicBezTo>
                  <a:lnTo>
                    <a:pt x="4938354" y="0"/>
                  </a:lnTo>
                  <a:cubicBezTo>
                    <a:pt x="5466802" y="0"/>
                    <a:pt x="5895299" y="428371"/>
                    <a:pt x="5895299" y="956945"/>
                  </a:cubicBezTo>
                  <a:close/>
                </a:path>
              </a:pathLst>
            </a:custGeom>
            <a:solidFill>
              <a:srgbClr val="6FD2E1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7607682" y="3707820"/>
            <a:ext cx="2490049" cy="938114"/>
            <a:chOff x="0" y="0"/>
            <a:chExt cx="5080062" cy="191389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5080062" cy="1913890"/>
            </a:xfrm>
            <a:custGeom>
              <a:avLst/>
              <a:gdLst/>
              <a:ahLst/>
              <a:cxnLst/>
              <a:rect r="r" b="b" t="t" l="l"/>
              <a:pathLst>
                <a:path h="1913890" w="5080062">
                  <a:moveTo>
                    <a:pt x="5080062" y="956945"/>
                  </a:moveTo>
                  <a:cubicBezTo>
                    <a:pt x="5080062" y="1485392"/>
                    <a:pt x="4651690" y="1913890"/>
                    <a:pt x="4123117" y="1913890"/>
                  </a:cubicBezTo>
                  <a:lnTo>
                    <a:pt x="956945" y="1913890"/>
                  </a:lnTo>
                  <a:cubicBezTo>
                    <a:pt x="428371" y="1913890"/>
                    <a:pt x="0" y="1485392"/>
                    <a:pt x="0" y="956945"/>
                  </a:cubicBezTo>
                  <a:cubicBezTo>
                    <a:pt x="0" y="428371"/>
                    <a:pt x="428371" y="0"/>
                    <a:pt x="956945" y="0"/>
                  </a:cubicBezTo>
                  <a:lnTo>
                    <a:pt x="4123117" y="0"/>
                  </a:lnTo>
                  <a:cubicBezTo>
                    <a:pt x="4651564" y="0"/>
                    <a:pt x="5080062" y="428371"/>
                    <a:pt x="5080062" y="956945"/>
                  </a:cubicBezTo>
                  <a:close/>
                </a:path>
              </a:pathLst>
            </a:custGeom>
            <a:solidFill>
              <a:srgbClr val="A4E473"/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9186243" y="6028228"/>
            <a:ext cx="3699088" cy="938114"/>
            <a:chOff x="0" y="0"/>
            <a:chExt cx="7546678" cy="191389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7546678" cy="1913890"/>
            </a:xfrm>
            <a:custGeom>
              <a:avLst/>
              <a:gdLst/>
              <a:ahLst/>
              <a:cxnLst/>
              <a:rect r="r" b="b" t="t" l="l"/>
              <a:pathLst>
                <a:path h="1913890" w="7546678">
                  <a:moveTo>
                    <a:pt x="7546678" y="956945"/>
                  </a:moveTo>
                  <a:cubicBezTo>
                    <a:pt x="7546678" y="1485392"/>
                    <a:pt x="7118307" y="1913890"/>
                    <a:pt x="6589733" y="1913890"/>
                  </a:cubicBezTo>
                  <a:lnTo>
                    <a:pt x="956945" y="1913890"/>
                  </a:lnTo>
                  <a:cubicBezTo>
                    <a:pt x="428371" y="1913890"/>
                    <a:pt x="0" y="1485392"/>
                    <a:pt x="0" y="956945"/>
                  </a:cubicBezTo>
                  <a:cubicBezTo>
                    <a:pt x="0" y="428371"/>
                    <a:pt x="428371" y="0"/>
                    <a:pt x="956945" y="0"/>
                  </a:cubicBezTo>
                  <a:lnTo>
                    <a:pt x="6589733" y="0"/>
                  </a:lnTo>
                  <a:cubicBezTo>
                    <a:pt x="7118180" y="0"/>
                    <a:pt x="7546678" y="428371"/>
                    <a:pt x="7546678" y="956945"/>
                  </a:cubicBezTo>
                  <a:close/>
                </a:path>
              </a:pathLst>
            </a:custGeom>
            <a:solidFill>
              <a:srgbClr val="6FD2E1"/>
            </a:solidFill>
          </p:spPr>
        </p:sp>
      </p:grpSp>
      <p:grpSp>
        <p:nvGrpSpPr>
          <p:cNvPr name="Group 8" id="8"/>
          <p:cNvGrpSpPr/>
          <p:nvPr/>
        </p:nvGrpSpPr>
        <p:grpSpPr>
          <a:xfrm rot="0">
            <a:off x="11289137" y="3718945"/>
            <a:ext cx="3177296" cy="938114"/>
            <a:chOff x="0" y="0"/>
            <a:chExt cx="6482146" cy="191389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6482146" cy="1913890"/>
            </a:xfrm>
            <a:custGeom>
              <a:avLst/>
              <a:gdLst/>
              <a:ahLst/>
              <a:cxnLst/>
              <a:rect r="r" b="b" t="t" l="l"/>
              <a:pathLst>
                <a:path h="1913890" w="6482146">
                  <a:moveTo>
                    <a:pt x="6482146" y="956945"/>
                  </a:moveTo>
                  <a:cubicBezTo>
                    <a:pt x="6482146" y="1485392"/>
                    <a:pt x="6053775" y="1913890"/>
                    <a:pt x="5525201" y="1913890"/>
                  </a:cubicBezTo>
                  <a:lnTo>
                    <a:pt x="956945" y="1913890"/>
                  </a:lnTo>
                  <a:cubicBezTo>
                    <a:pt x="428371" y="1913890"/>
                    <a:pt x="0" y="1485392"/>
                    <a:pt x="0" y="956945"/>
                  </a:cubicBezTo>
                  <a:cubicBezTo>
                    <a:pt x="0" y="428371"/>
                    <a:pt x="428371" y="0"/>
                    <a:pt x="956945" y="0"/>
                  </a:cubicBezTo>
                  <a:lnTo>
                    <a:pt x="5525201" y="0"/>
                  </a:lnTo>
                  <a:cubicBezTo>
                    <a:pt x="6053648" y="0"/>
                    <a:pt x="6482146" y="428371"/>
                    <a:pt x="6482146" y="956945"/>
                  </a:cubicBezTo>
                  <a:close/>
                </a:path>
              </a:pathLst>
            </a:custGeom>
            <a:solidFill>
              <a:srgbClr val="6FD2E1"/>
            </a:solidFill>
          </p:spPr>
        </p:sp>
      </p:grpSp>
      <p:sp>
        <p:nvSpPr>
          <p:cNvPr name="Freeform 10" id="10"/>
          <p:cNvSpPr/>
          <p:nvPr/>
        </p:nvSpPr>
        <p:spPr>
          <a:xfrm flipH="false" flipV="false" rot="0">
            <a:off x="-3529745" y="-1022055"/>
            <a:ext cx="19846242" cy="1299027"/>
          </a:xfrm>
          <a:custGeom>
            <a:avLst/>
            <a:gdLst/>
            <a:ahLst/>
            <a:cxnLst/>
            <a:rect r="r" b="b" t="t" l="l"/>
            <a:pathLst>
              <a:path h="1299027" w="19846242">
                <a:moveTo>
                  <a:pt x="0" y="0"/>
                </a:moveTo>
                <a:lnTo>
                  <a:pt x="19846242" y="0"/>
                </a:lnTo>
                <a:lnTo>
                  <a:pt x="19846242" y="1299027"/>
                </a:lnTo>
                <a:lnTo>
                  <a:pt x="0" y="129902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1" id="11"/>
          <p:cNvGrpSpPr/>
          <p:nvPr/>
        </p:nvGrpSpPr>
        <p:grpSpPr>
          <a:xfrm rot="0">
            <a:off x="16035716" y="-1022055"/>
            <a:ext cx="3423948" cy="2965155"/>
            <a:chOff x="0" y="0"/>
            <a:chExt cx="3619627" cy="3134614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3619627" cy="3134614"/>
            </a:xfrm>
            <a:custGeom>
              <a:avLst/>
              <a:gdLst/>
              <a:ahLst/>
              <a:cxnLst/>
              <a:rect r="r" b="b" t="t" l="l"/>
              <a:pathLst>
                <a:path h="3134614" w="3619627">
                  <a:moveTo>
                    <a:pt x="3619627" y="1567307"/>
                  </a:moveTo>
                  <a:lnTo>
                    <a:pt x="2714752" y="3134614"/>
                  </a:lnTo>
                  <a:lnTo>
                    <a:pt x="904875" y="3134614"/>
                  </a:lnTo>
                  <a:lnTo>
                    <a:pt x="0" y="1567307"/>
                  </a:lnTo>
                  <a:lnTo>
                    <a:pt x="904875" y="0"/>
                  </a:lnTo>
                  <a:lnTo>
                    <a:pt x="2714625" y="0"/>
                  </a:lnTo>
                  <a:lnTo>
                    <a:pt x="3619627" y="1567307"/>
                  </a:lnTo>
                  <a:close/>
                </a:path>
              </a:pathLst>
            </a:custGeom>
            <a:solidFill>
              <a:srgbClr val="004651"/>
            </a:solidFill>
          </p:spPr>
        </p:sp>
      </p:grpSp>
      <p:grpSp>
        <p:nvGrpSpPr>
          <p:cNvPr name="Group 13" id="13"/>
          <p:cNvGrpSpPr/>
          <p:nvPr/>
        </p:nvGrpSpPr>
        <p:grpSpPr>
          <a:xfrm rot="0">
            <a:off x="15373694" y="-355949"/>
            <a:ext cx="1885606" cy="1632943"/>
            <a:chOff x="0" y="0"/>
            <a:chExt cx="3619627" cy="3134614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3619627" cy="3134614"/>
            </a:xfrm>
            <a:custGeom>
              <a:avLst/>
              <a:gdLst/>
              <a:ahLst/>
              <a:cxnLst/>
              <a:rect r="r" b="b" t="t" l="l"/>
              <a:pathLst>
                <a:path h="3134614" w="3619627">
                  <a:moveTo>
                    <a:pt x="3619627" y="1567307"/>
                  </a:moveTo>
                  <a:lnTo>
                    <a:pt x="2714752" y="3134614"/>
                  </a:lnTo>
                  <a:lnTo>
                    <a:pt x="904875" y="3134614"/>
                  </a:lnTo>
                  <a:lnTo>
                    <a:pt x="0" y="1567307"/>
                  </a:lnTo>
                  <a:lnTo>
                    <a:pt x="904875" y="0"/>
                  </a:lnTo>
                  <a:lnTo>
                    <a:pt x="2714625" y="0"/>
                  </a:lnTo>
                  <a:lnTo>
                    <a:pt x="3619627" y="1567307"/>
                  </a:lnTo>
                  <a:close/>
                </a:path>
              </a:pathLst>
            </a:custGeom>
            <a:solidFill>
              <a:srgbClr val="00A181"/>
            </a:solidFill>
          </p:spPr>
        </p:sp>
      </p:grpSp>
      <p:sp>
        <p:nvSpPr>
          <p:cNvPr name="Freeform 15" id="15"/>
          <p:cNvSpPr/>
          <p:nvPr/>
        </p:nvSpPr>
        <p:spPr>
          <a:xfrm flipH="false" flipV="false" rot="2700000">
            <a:off x="5450606" y="5118374"/>
            <a:ext cx="1087687" cy="440513"/>
          </a:xfrm>
          <a:custGeom>
            <a:avLst/>
            <a:gdLst/>
            <a:ahLst/>
            <a:cxnLst/>
            <a:rect r="r" b="b" t="t" l="l"/>
            <a:pathLst>
              <a:path h="440513" w="1087687">
                <a:moveTo>
                  <a:pt x="0" y="0"/>
                </a:moveTo>
                <a:lnTo>
                  <a:pt x="1087688" y="0"/>
                </a:lnTo>
                <a:lnTo>
                  <a:pt x="1087688" y="440514"/>
                </a:lnTo>
                <a:lnTo>
                  <a:pt x="0" y="440514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6" id="16"/>
          <p:cNvSpPr txBox="true"/>
          <p:nvPr/>
        </p:nvSpPr>
        <p:spPr>
          <a:xfrm rot="0">
            <a:off x="6614434" y="1447800"/>
            <a:ext cx="5059131" cy="6445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199"/>
              </a:lnSpc>
              <a:spcBef>
                <a:spcPct val="0"/>
              </a:spcBef>
            </a:pPr>
            <a:r>
              <a:rPr lang="en-US" sz="3999" spc="-39" u="sng">
                <a:solidFill>
                  <a:srgbClr val="000000"/>
                </a:solidFill>
                <a:latin typeface="Fira Sans Medium"/>
                <a:ea typeface="Fira Sans Medium"/>
                <a:cs typeface="Fira Sans Medium"/>
                <a:sym typeface="Fira Sans Medium"/>
              </a:rPr>
              <a:t>Methodology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4189631" y="3826697"/>
            <a:ext cx="2153519" cy="6845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77"/>
              </a:lnSpc>
            </a:pPr>
            <a:r>
              <a:rPr lang="en-US" sz="1983">
                <a:solidFill>
                  <a:srgbClr val="000000"/>
                </a:solidFill>
                <a:latin typeface="Fira Sans Medium"/>
                <a:ea typeface="Fira Sans Medium"/>
                <a:cs typeface="Fira Sans Medium"/>
                <a:sym typeface="Fira Sans Medium"/>
              </a:rPr>
              <a:t>Record Video with Standard Webcam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7924848" y="3826697"/>
            <a:ext cx="1855717" cy="6845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77"/>
              </a:lnSpc>
            </a:pPr>
            <a:r>
              <a:rPr lang="en-US" sz="1983">
                <a:solidFill>
                  <a:srgbClr val="000000"/>
                </a:solidFill>
                <a:latin typeface="Fira Sans Medium"/>
                <a:ea typeface="Fira Sans Medium"/>
                <a:cs typeface="Fira Sans Medium"/>
                <a:sym typeface="Fira Sans Medium"/>
              </a:rPr>
              <a:t>Setup Unreal Engine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9657408" y="6147105"/>
            <a:ext cx="2756758" cy="6845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77"/>
              </a:lnSpc>
            </a:pPr>
            <a:r>
              <a:rPr lang="en-US" sz="1983">
                <a:solidFill>
                  <a:srgbClr val="000000"/>
                </a:solidFill>
                <a:latin typeface="Fira Sans Medium"/>
                <a:ea typeface="Fira Sans Medium"/>
                <a:cs typeface="Fira Sans Medium"/>
                <a:sym typeface="Fira Sans Medium"/>
              </a:rPr>
              <a:t>Integrate MediaPipe Data into Unreal Engine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11693307" y="3826697"/>
            <a:ext cx="2384047" cy="66226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67"/>
              </a:lnSpc>
            </a:pPr>
            <a:r>
              <a:rPr lang="en-US" sz="1905">
                <a:solidFill>
                  <a:srgbClr val="000000"/>
                </a:solidFill>
                <a:latin typeface="Fira Sans Medium"/>
                <a:ea typeface="Fira Sans Medium"/>
                <a:cs typeface="Fira Sans Medium"/>
                <a:sym typeface="Fira Sans Medium"/>
              </a:rPr>
              <a:t>Visualization for Baseline Comparison</a:t>
            </a:r>
          </a:p>
        </p:txBody>
      </p:sp>
      <p:sp>
        <p:nvSpPr>
          <p:cNvPr name="Freeform 21" id="21"/>
          <p:cNvSpPr/>
          <p:nvPr/>
        </p:nvSpPr>
        <p:spPr>
          <a:xfrm flipH="false" flipV="false" rot="-3463864">
            <a:off x="7540431" y="5219405"/>
            <a:ext cx="1087687" cy="440513"/>
          </a:xfrm>
          <a:custGeom>
            <a:avLst/>
            <a:gdLst/>
            <a:ahLst/>
            <a:cxnLst/>
            <a:rect r="r" b="b" t="t" l="l"/>
            <a:pathLst>
              <a:path h="440513" w="1087687">
                <a:moveTo>
                  <a:pt x="0" y="0"/>
                </a:moveTo>
                <a:lnTo>
                  <a:pt x="1087688" y="0"/>
                </a:lnTo>
                <a:lnTo>
                  <a:pt x="1087688" y="440513"/>
                </a:lnTo>
                <a:lnTo>
                  <a:pt x="0" y="440513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2" id="22"/>
          <p:cNvSpPr/>
          <p:nvPr/>
        </p:nvSpPr>
        <p:spPr>
          <a:xfrm flipH="false" flipV="false" rot="-3463864">
            <a:off x="11102541" y="5219405"/>
            <a:ext cx="1087687" cy="440513"/>
          </a:xfrm>
          <a:custGeom>
            <a:avLst/>
            <a:gdLst/>
            <a:ahLst/>
            <a:cxnLst/>
            <a:rect r="r" b="b" t="t" l="l"/>
            <a:pathLst>
              <a:path h="440513" w="1087687">
                <a:moveTo>
                  <a:pt x="0" y="0"/>
                </a:moveTo>
                <a:lnTo>
                  <a:pt x="1087687" y="0"/>
                </a:lnTo>
                <a:lnTo>
                  <a:pt x="1087687" y="440513"/>
                </a:lnTo>
                <a:lnTo>
                  <a:pt x="0" y="440513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3" id="23"/>
          <p:cNvSpPr/>
          <p:nvPr/>
        </p:nvSpPr>
        <p:spPr>
          <a:xfrm flipH="false" flipV="false" rot="2700000">
            <a:off x="9469959" y="5182264"/>
            <a:ext cx="1087687" cy="440513"/>
          </a:xfrm>
          <a:custGeom>
            <a:avLst/>
            <a:gdLst/>
            <a:ahLst/>
            <a:cxnLst/>
            <a:rect r="r" b="b" t="t" l="l"/>
            <a:pathLst>
              <a:path h="440513" w="1087687">
                <a:moveTo>
                  <a:pt x="0" y="0"/>
                </a:moveTo>
                <a:lnTo>
                  <a:pt x="1087687" y="0"/>
                </a:lnTo>
                <a:lnTo>
                  <a:pt x="1087687" y="440513"/>
                </a:lnTo>
                <a:lnTo>
                  <a:pt x="0" y="440513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24" id="24"/>
          <p:cNvGrpSpPr/>
          <p:nvPr/>
        </p:nvGrpSpPr>
        <p:grpSpPr>
          <a:xfrm rot="0">
            <a:off x="5748544" y="6028228"/>
            <a:ext cx="2490049" cy="938114"/>
            <a:chOff x="0" y="0"/>
            <a:chExt cx="5080062" cy="1913890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5080062" cy="1913890"/>
            </a:xfrm>
            <a:custGeom>
              <a:avLst/>
              <a:gdLst/>
              <a:ahLst/>
              <a:cxnLst/>
              <a:rect r="r" b="b" t="t" l="l"/>
              <a:pathLst>
                <a:path h="1913890" w="5080062">
                  <a:moveTo>
                    <a:pt x="5080062" y="956945"/>
                  </a:moveTo>
                  <a:cubicBezTo>
                    <a:pt x="5080062" y="1485392"/>
                    <a:pt x="4651690" y="1913890"/>
                    <a:pt x="4123117" y="1913890"/>
                  </a:cubicBezTo>
                  <a:lnTo>
                    <a:pt x="956945" y="1913890"/>
                  </a:lnTo>
                  <a:cubicBezTo>
                    <a:pt x="428371" y="1913890"/>
                    <a:pt x="0" y="1485392"/>
                    <a:pt x="0" y="956945"/>
                  </a:cubicBezTo>
                  <a:cubicBezTo>
                    <a:pt x="0" y="428371"/>
                    <a:pt x="428371" y="0"/>
                    <a:pt x="956945" y="0"/>
                  </a:cubicBezTo>
                  <a:lnTo>
                    <a:pt x="4123117" y="0"/>
                  </a:lnTo>
                  <a:cubicBezTo>
                    <a:pt x="4651564" y="0"/>
                    <a:pt x="5080062" y="428371"/>
                    <a:pt x="5080062" y="956945"/>
                  </a:cubicBezTo>
                  <a:close/>
                </a:path>
              </a:pathLst>
            </a:custGeom>
            <a:solidFill>
              <a:srgbClr val="6FD2E1"/>
            </a:solidFill>
          </p:spPr>
        </p:sp>
      </p:grpSp>
      <p:sp>
        <p:nvSpPr>
          <p:cNvPr name="TextBox 26" id="26"/>
          <p:cNvSpPr txBox="true"/>
          <p:nvPr/>
        </p:nvSpPr>
        <p:spPr>
          <a:xfrm rot="0">
            <a:off x="6065710" y="6147105"/>
            <a:ext cx="1855717" cy="6845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77"/>
              </a:lnSpc>
            </a:pPr>
            <a:r>
              <a:rPr lang="en-US" sz="1983">
                <a:solidFill>
                  <a:srgbClr val="000000"/>
                </a:solidFill>
                <a:latin typeface="Fira Sans Medium"/>
                <a:ea typeface="Fira Sans Medium"/>
                <a:cs typeface="Fira Sans Medium"/>
                <a:sym typeface="Fira Sans Medium"/>
              </a:rPr>
              <a:t>MediaPipe Data with Python</a:t>
            </a:r>
          </a:p>
        </p:txBody>
      </p:sp>
      <p:sp>
        <p:nvSpPr>
          <p:cNvPr name="Freeform 27" id="27"/>
          <p:cNvSpPr/>
          <p:nvPr/>
        </p:nvSpPr>
        <p:spPr>
          <a:xfrm flipH="false" flipV="false" rot="0">
            <a:off x="15020193" y="3894696"/>
            <a:ext cx="2031048" cy="822574"/>
          </a:xfrm>
          <a:custGeom>
            <a:avLst/>
            <a:gdLst/>
            <a:ahLst/>
            <a:cxnLst/>
            <a:rect r="r" b="b" t="t" l="l"/>
            <a:pathLst>
              <a:path h="822574" w="2031048">
                <a:moveTo>
                  <a:pt x="0" y="0"/>
                </a:moveTo>
                <a:lnTo>
                  <a:pt x="2031047" y="0"/>
                </a:lnTo>
                <a:lnTo>
                  <a:pt x="2031047" y="822574"/>
                </a:lnTo>
                <a:lnTo>
                  <a:pt x="0" y="822574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4F4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3821567" y="3707820"/>
            <a:ext cx="2889646" cy="938114"/>
            <a:chOff x="0" y="0"/>
            <a:chExt cx="5895299" cy="191389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5895299" cy="1913890"/>
            </a:xfrm>
            <a:custGeom>
              <a:avLst/>
              <a:gdLst/>
              <a:ahLst/>
              <a:cxnLst/>
              <a:rect r="r" b="b" t="t" l="l"/>
              <a:pathLst>
                <a:path h="1913890" w="5895299">
                  <a:moveTo>
                    <a:pt x="5895299" y="956945"/>
                  </a:moveTo>
                  <a:cubicBezTo>
                    <a:pt x="5895299" y="1485392"/>
                    <a:pt x="5466928" y="1913890"/>
                    <a:pt x="4938354" y="1913890"/>
                  </a:cubicBezTo>
                  <a:lnTo>
                    <a:pt x="956945" y="1913890"/>
                  </a:lnTo>
                  <a:cubicBezTo>
                    <a:pt x="428371" y="1913890"/>
                    <a:pt x="0" y="1485392"/>
                    <a:pt x="0" y="956945"/>
                  </a:cubicBezTo>
                  <a:cubicBezTo>
                    <a:pt x="0" y="428371"/>
                    <a:pt x="428371" y="0"/>
                    <a:pt x="956945" y="0"/>
                  </a:cubicBezTo>
                  <a:lnTo>
                    <a:pt x="4938354" y="0"/>
                  </a:lnTo>
                  <a:cubicBezTo>
                    <a:pt x="5466802" y="0"/>
                    <a:pt x="5895299" y="428371"/>
                    <a:pt x="5895299" y="956945"/>
                  </a:cubicBezTo>
                  <a:close/>
                </a:path>
              </a:pathLst>
            </a:custGeom>
            <a:solidFill>
              <a:srgbClr val="6FD2E1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7607682" y="3707820"/>
            <a:ext cx="2490049" cy="938114"/>
            <a:chOff x="0" y="0"/>
            <a:chExt cx="5080062" cy="191389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5080062" cy="1913890"/>
            </a:xfrm>
            <a:custGeom>
              <a:avLst/>
              <a:gdLst/>
              <a:ahLst/>
              <a:cxnLst/>
              <a:rect r="r" b="b" t="t" l="l"/>
              <a:pathLst>
                <a:path h="1913890" w="5080062">
                  <a:moveTo>
                    <a:pt x="5080062" y="956945"/>
                  </a:moveTo>
                  <a:cubicBezTo>
                    <a:pt x="5080062" y="1485392"/>
                    <a:pt x="4651690" y="1913890"/>
                    <a:pt x="4123117" y="1913890"/>
                  </a:cubicBezTo>
                  <a:lnTo>
                    <a:pt x="956945" y="1913890"/>
                  </a:lnTo>
                  <a:cubicBezTo>
                    <a:pt x="428371" y="1913890"/>
                    <a:pt x="0" y="1485392"/>
                    <a:pt x="0" y="956945"/>
                  </a:cubicBezTo>
                  <a:cubicBezTo>
                    <a:pt x="0" y="428371"/>
                    <a:pt x="428371" y="0"/>
                    <a:pt x="956945" y="0"/>
                  </a:cubicBezTo>
                  <a:lnTo>
                    <a:pt x="4123117" y="0"/>
                  </a:lnTo>
                  <a:cubicBezTo>
                    <a:pt x="4651564" y="0"/>
                    <a:pt x="5080062" y="428371"/>
                    <a:pt x="5080062" y="956945"/>
                  </a:cubicBezTo>
                  <a:close/>
                </a:path>
              </a:pathLst>
            </a:custGeom>
            <a:solidFill>
              <a:srgbClr val="6FD2E1"/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9186243" y="6028228"/>
            <a:ext cx="3699088" cy="938114"/>
            <a:chOff x="0" y="0"/>
            <a:chExt cx="7546678" cy="191389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7546678" cy="1913890"/>
            </a:xfrm>
            <a:custGeom>
              <a:avLst/>
              <a:gdLst/>
              <a:ahLst/>
              <a:cxnLst/>
              <a:rect r="r" b="b" t="t" l="l"/>
              <a:pathLst>
                <a:path h="1913890" w="7546678">
                  <a:moveTo>
                    <a:pt x="7546678" y="956945"/>
                  </a:moveTo>
                  <a:cubicBezTo>
                    <a:pt x="7546678" y="1485392"/>
                    <a:pt x="7118307" y="1913890"/>
                    <a:pt x="6589733" y="1913890"/>
                  </a:cubicBezTo>
                  <a:lnTo>
                    <a:pt x="956945" y="1913890"/>
                  </a:lnTo>
                  <a:cubicBezTo>
                    <a:pt x="428371" y="1913890"/>
                    <a:pt x="0" y="1485392"/>
                    <a:pt x="0" y="956945"/>
                  </a:cubicBezTo>
                  <a:cubicBezTo>
                    <a:pt x="0" y="428371"/>
                    <a:pt x="428371" y="0"/>
                    <a:pt x="956945" y="0"/>
                  </a:cubicBezTo>
                  <a:lnTo>
                    <a:pt x="6589733" y="0"/>
                  </a:lnTo>
                  <a:cubicBezTo>
                    <a:pt x="7118180" y="0"/>
                    <a:pt x="7546678" y="428371"/>
                    <a:pt x="7546678" y="956945"/>
                  </a:cubicBezTo>
                  <a:close/>
                </a:path>
              </a:pathLst>
            </a:custGeom>
            <a:solidFill>
              <a:srgbClr val="A4E473"/>
            </a:solidFill>
          </p:spPr>
        </p:sp>
      </p:grpSp>
      <p:grpSp>
        <p:nvGrpSpPr>
          <p:cNvPr name="Group 8" id="8"/>
          <p:cNvGrpSpPr/>
          <p:nvPr/>
        </p:nvGrpSpPr>
        <p:grpSpPr>
          <a:xfrm rot="0">
            <a:off x="11289137" y="3718945"/>
            <a:ext cx="3177296" cy="938114"/>
            <a:chOff x="0" y="0"/>
            <a:chExt cx="6482146" cy="191389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6482146" cy="1913890"/>
            </a:xfrm>
            <a:custGeom>
              <a:avLst/>
              <a:gdLst/>
              <a:ahLst/>
              <a:cxnLst/>
              <a:rect r="r" b="b" t="t" l="l"/>
              <a:pathLst>
                <a:path h="1913890" w="6482146">
                  <a:moveTo>
                    <a:pt x="6482146" y="956945"/>
                  </a:moveTo>
                  <a:cubicBezTo>
                    <a:pt x="6482146" y="1485392"/>
                    <a:pt x="6053775" y="1913890"/>
                    <a:pt x="5525201" y="1913890"/>
                  </a:cubicBezTo>
                  <a:lnTo>
                    <a:pt x="956945" y="1913890"/>
                  </a:lnTo>
                  <a:cubicBezTo>
                    <a:pt x="428371" y="1913890"/>
                    <a:pt x="0" y="1485392"/>
                    <a:pt x="0" y="956945"/>
                  </a:cubicBezTo>
                  <a:cubicBezTo>
                    <a:pt x="0" y="428371"/>
                    <a:pt x="428371" y="0"/>
                    <a:pt x="956945" y="0"/>
                  </a:cubicBezTo>
                  <a:lnTo>
                    <a:pt x="5525201" y="0"/>
                  </a:lnTo>
                  <a:cubicBezTo>
                    <a:pt x="6053648" y="0"/>
                    <a:pt x="6482146" y="428371"/>
                    <a:pt x="6482146" y="956945"/>
                  </a:cubicBezTo>
                  <a:close/>
                </a:path>
              </a:pathLst>
            </a:custGeom>
            <a:solidFill>
              <a:srgbClr val="6FD2E1"/>
            </a:solidFill>
          </p:spPr>
        </p:sp>
      </p:grpSp>
      <p:sp>
        <p:nvSpPr>
          <p:cNvPr name="Freeform 10" id="10"/>
          <p:cNvSpPr/>
          <p:nvPr/>
        </p:nvSpPr>
        <p:spPr>
          <a:xfrm flipH="false" flipV="false" rot="0">
            <a:off x="-3529745" y="-1022055"/>
            <a:ext cx="19846242" cy="1299027"/>
          </a:xfrm>
          <a:custGeom>
            <a:avLst/>
            <a:gdLst/>
            <a:ahLst/>
            <a:cxnLst/>
            <a:rect r="r" b="b" t="t" l="l"/>
            <a:pathLst>
              <a:path h="1299027" w="19846242">
                <a:moveTo>
                  <a:pt x="0" y="0"/>
                </a:moveTo>
                <a:lnTo>
                  <a:pt x="19846242" y="0"/>
                </a:lnTo>
                <a:lnTo>
                  <a:pt x="19846242" y="1299027"/>
                </a:lnTo>
                <a:lnTo>
                  <a:pt x="0" y="129902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1" id="11"/>
          <p:cNvGrpSpPr/>
          <p:nvPr/>
        </p:nvGrpSpPr>
        <p:grpSpPr>
          <a:xfrm rot="0">
            <a:off x="16035716" y="-1022055"/>
            <a:ext cx="3423948" cy="2965155"/>
            <a:chOff x="0" y="0"/>
            <a:chExt cx="3619627" cy="3134614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3619627" cy="3134614"/>
            </a:xfrm>
            <a:custGeom>
              <a:avLst/>
              <a:gdLst/>
              <a:ahLst/>
              <a:cxnLst/>
              <a:rect r="r" b="b" t="t" l="l"/>
              <a:pathLst>
                <a:path h="3134614" w="3619627">
                  <a:moveTo>
                    <a:pt x="3619627" y="1567307"/>
                  </a:moveTo>
                  <a:lnTo>
                    <a:pt x="2714752" y="3134614"/>
                  </a:lnTo>
                  <a:lnTo>
                    <a:pt x="904875" y="3134614"/>
                  </a:lnTo>
                  <a:lnTo>
                    <a:pt x="0" y="1567307"/>
                  </a:lnTo>
                  <a:lnTo>
                    <a:pt x="904875" y="0"/>
                  </a:lnTo>
                  <a:lnTo>
                    <a:pt x="2714625" y="0"/>
                  </a:lnTo>
                  <a:lnTo>
                    <a:pt x="3619627" y="1567307"/>
                  </a:lnTo>
                  <a:close/>
                </a:path>
              </a:pathLst>
            </a:custGeom>
            <a:solidFill>
              <a:srgbClr val="004651"/>
            </a:solidFill>
          </p:spPr>
        </p:sp>
      </p:grpSp>
      <p:grpSp>
        <p:nvGrpSpPr>
          <p:cNvPr name="Group 13" id="13"/>
          <p:cNvGrpSpPr/>
          <p:nvPr/>
        </p:nvGrpSpPr>
        <p:grpSpPr>
          <a:xfrm rot="0">
            <a:off x="15373694" y="-355949"/>
            <a:ext cx="1885606" cy="1632943"/>
            <a:chOff x="0" y="0"/>
            <a:chExt cx="3619627" cy="3134614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3619627" cy="3134614"/>
            </a:xfrm>
            <a:custGeom>
              <a:avLst/>
              <a:gdLst/>
              <a:ahLst/>
              <a:cxnLst/>
              <a:rect r="r" b="b" t="t" l="l"/>
              <a:pathLst>
                <a:path h="3134614" w="3619627">
                  <a:moveTo>
                    <a:pt x="3619627" y="1567307"/>
                  </a:moveTo>
                  <a:lnTo>
                    <a:pt x="2714752" y="3134614"/>
                  </a:lnTo>
                  <a:lnTo>
                    <a:pt x="904875" y="3134614"/>
                  </a:lnTo>
                  <a:lnTo>
                    <a:pt x="0" y="1567307"/>
                  </a:lnTo>
                  <a:lnTo>
                    <a:pt x="904875" y="0"/>
                  </a:lnTo>
                  <a:lnTo>
                    <a:pt x="2714625" y="0"/>
                  </a:lnTo>
                  <a:lnTo>
                    <a:pt x="3619627" y="1567307"/>
                  </a:lnTo>
                  <a:close/>
                </a:path>
              </a:pathLst>
            </a:custGeom>
            <a:solidFill>
              <a:srgbClr val="00A181"/>
            </a:solidFill>
          </p:spPr>
        </p:sp>
      </p:grpSp>
      <p:sp>
        <p:nvSpPr>
          <p:cNvPr name="Freeform 15" id="15"/>
          <p:cNvSpPr/>
          <p:nvPr/>
        </p:nvSpPr>
        <p:spPr>
          <a:xfrm flipH="false" flipV="false" rot="2700000">
            <a:off x="5450606" y="5118374"/>
            <a:ext cx="1087687" cy="440513"/>
          </a:xfrm>
          <a:custGeom>
            <a:avLst/>
            <a:gdLst/>
            <a:ahLst/>
            <a:cxnLst/>
            <a:rect r="r" b="b" t="t" l="l"/>
            <a:pathLst>
              <a:path h="440513" w="1087687">
                <a:moveTo>
                  <a:pt x="0" y="0"/>
                </a:moveTo>
                <a:lnTo>
                  <a:pt x="1087688" y="0"/>
                </a:lnTo>
                <a:lnTo>
                  <a:pt x="1087688" y="440514"/>
                </a:lnTo>
                <a:lnTo>
                  <a:pt x="0" y="440514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6" id="16"/>
          <p:cNvSpPr txBox="true"/>
          <p:nvPr/>
        </p:nvSpPr>
        <p:spPr>
          <a:xfrm rot="0">
            <a:off x="6614434" y="1447800"/>
            <a:ext cx="5059131" cy="6445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199"/>
              </a:lnSpc>
              <a:spcBef>
                <a:spcPct val="0"/>
              </a:spcBef>
            </a:pPr>
            <a:r>
              <a:rPr lang="en-US" sz="3999" spc="-39" u="sng">
                <a:solidFill>
                  <a:srgbClr val="000000"/>
                </a:solidFill>
                <a:latin typeface="Fira Sans Medium"/>
                <a:ea typeface="Fira Sans Medium"/>
                <a:cs typeface="Fira Sans Medium"/>
                <a:sym typeface="Fira Sans Medium"/>
              </a:rPr>
              <a:t>Methodology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4189631" y="3826697"/>
            <a:ext cx="2153519" cy="6845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77"/>
              </a:lnSpc>
            </a:pPr>
            <a:r>
              <a:rPr lang="en-US" sz="1983">
                <a:solidFill>
                  <a:srgbClr val="000000"/>
                </a:solidFill>
                <a:latin typeface="Fira Sans Medium"/>
                <a:ea typeface="Fira Sans Medium"/>
                <a:cs typeface="Fira Sans Medium"/>
                <a:sym typeface="Fira Sans Medium"/>
              </a:rPr>
              <a:t>Record Video with Standard Webcam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7924848" y="3826697"/>
            <a:ext cx="1855717" cy="6845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77"/>
              </a:lnSpc>
            </a:pPr>
            <a:r>
              <a:rPr lang="en-US" sz="1983">
                <a:solidFill>
                  <a:srgbClr val="000000"/>
                </a:solidFill>
                <a:latin typeface="Fira Sans Medium"/>
                <a:ea typeface="Fira Sans Medium"/>
                <a:cs typeface="Fira Sans Medium"/>
                <a:sym typeface="Fira Sans Medium"/>
              </a:rPr>
              <a:t>Setup Unreal Engine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9657408" y="6147105"/>
            <a:ext cx="2756758" cy="6845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77"/>
              </a:lnSpc>
            </a:pPr>
            <a:r>
              <a:rPr lang="en-US" sz="1983">
                <a:solidFill>
                  <a:srgbClr val="000000"/>
                </a:solidFill>
                <a:latin typeface="Fira Sans Medium"/>
                <a:ea typeface="Fira Sans Medium"/>
                <a:cs typeface="Fira Sans Medium"/>
                <a:sym typeface="Fira Sans Medium"/>
              </a:rPr>
              <a:t>Integrate MediaPipe Data into Unreal Engine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11693307" y="3826697"/>
            <a:ext cx="2384047" cy="66226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67"/>
              </a:lnSpc>
            </a:pPr>
            <a:r>
              <a:rPr lang="en-US" sz="1905">
                <a:solidFill>
                  <a:srgbClr val="000000"/>
                </a:solidFill>
                <a:latin typeface="Fira Sans Medium"/>
                <a:ea typeface="Fira Sans Medium"/>
                <a:cs typeface="Fira Sans Medium"/>
                <a:sym typeface="Fira Sans Medium"/>
              </a:rPr>
              <a:t>Visualization for Baseline Comparison</a:t>
            </a:r>
          </a:p>
        </p:txBody>
      </p:sp>
      <p:sp>
        <p:nvSpPr>
          <p:cNvPr name="Freeform 21" id="21"/>
          <p:cNvSpPr/>
          <p:nvPr/>
        </p:nvSpPr>
        <p:spPr>
          <a:xfrm flipH="false" flipV="false" rot="-3463864">
            <a:off x="7540431" y="5219405"/>
            <a:ext cx="1087687" cy="440513"/>
          </a:xfrm>
          <a:custGeom>
            <a:avLst/>
            <a:gdLst/>
            <a:ahLst/>
            <a:cxnLst/>
            <a:rect r="r" b="b" t="t" l="l"/>
            <a:pathLst>
              <a:path h="440513" w="1087687">
                <a:moveTo>
                  <a:pt x="0" y="0"/>
                </a:moveTo>
                <a:lnTo>
                  <a:pt x="1087688" y="0"/>
                </a:lnTo>
                <a:lnTo>
                  <a:pt x="1087688" y="440513"/>
                </a:lnTo>
                <a:lnTo>
                  <a:pt x="0" y="440513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2" id="22"/>
          <p:cNvSpPr/>
          <p:nvPr/>
        </p:nvSpPr>
        <p:spPr>
          <a:xfrm flipH="false" flipV="false" rot="-3463864">
            <a:off x="11102541" y="5219405"/>
            <a:ext cx="1087687" cy="440513"/>
          </a:xfrm>
          <a:custGeom>
            <a:avLst/>
            <a:gdLst/>
            <a:ahLst/>
            <a:cxnLst/>
            <a:rect r="r" b="b" t="t" l="l"/>
            <a:pathLst>
              <a:path h="440513" w="1087687">
                <a:moveTo>
                  <a:pt x="0" y="0"/>
                </a:moveTo>
                <a:lnTo>
                  <a:pt x="1087687" y="0"/>
                </a:lnTo>
                <a:lnTo>
                  <a:pt x="1087687" y="440513"/>
                </a:lnTo>
                <a:lnTo>
                  <a:pt x="0" y="440513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3" id="23"/>
          <p:cNvSpPr/>
          <p:nvPr/>
        </p:nvSpPr>
        <p:spPr>
          <a:xfrm flipH="false" flipV="false" rot="2700000">
            <a:off x="9469959" y="5182264"/>
            <a:ext cx="1087687" cy="440513"/>
          </a:xfrm>
          <a:custGeom>
            <a:avLst/>
            <a:gdLst/>
            <a:ahLst/>
            <a:cxnLst/>
            <a:rect r="r" b="b" t="t" l="l"/>
            <a:pathLst>
              <a:path h="440513" w="1087687">
                <a:moveTo>
                  <a:pt x="0" y="0"/>
                </a:moveTo>
                <a:lnTo>
                  <a:pt x="1087687" y="0"/>
                </a:lnTo>
                <a:lnTo>
                  <a:pt x="1087687" y="440513"/>
                </a:lnTo>
                <a:lnTo>
                  <a:pt x="0" y="440513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24" id="24"/>
          <p:cNvGrpSpPr/>
          <p:nvPr/>
        </p:nvGrpSpPr>
        <p:grpSpPr>
          <a:xfrm rot="0">
            <a:off x="5748544" y="6028228"/>
            <a:ext cx="2490049" cy="938114"/>
            <a:chOff x="0" y="0"/>
            <a:chExt cx="5080062" cy="1913890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5080062" cy="1913890"/>
            </a:xfrm>
            <a:custGeom>
              <a:avLst/>
              <a:gdLst/>
              <a:ahLst/>
              <a:cxnLst/>
              <a:rect r="r" b="b" t="t" l="l"/>
              <a:pathLst>
                <a:path h="1913890" w="5080062">
                  <a:moveTo>
                    <a:pt x="5080062" y="956945"/>
                  </a:moveTo>
                  <a:cubicBezTo>
                    <a:pt x="5080062" y="1485392"/>
                    <a:pt x="4651690" y="1913890"/>
                    <a:pt x="4123117" y="1913890"/>
                  </a:cubicBezTo>
                  <a:lnTo>
                    <a:pt x="956945" y="1913890"/>
                  </a:lnTo>
                  <a:cubicBezTo>
                    <a:pt x="428371" y="1913890"/>
                    <a:pt x="0" y="1485392"/>
                    <a:pt x="0" y="956945"/>
                  </a:cubicBezTo>
                  <a:cubicBezTo>
                    <a:pt x="0" y="428371"/>
                    <a:pt x="428371" y="0"/>
                    <a:pt x="956945" y="0"/>
                  </a:cubicBezTo>
                  <a:lnTo>
                    <a:pt x="4123117" y="0"/>
                  </a:lnTo>
                  <a:cubicBezTo>
                    <a:pt x="4651564" y="0"/>
                    <a:pt x="5080062" y="428371"/>
                    <a:pt x="5080062" y="956945"/>
                  </a:cubicBezTo>
                  <a:close/>
                </a:path>
              </a:pathLst>
            </a:custGeom>
            <a:solidFill>
              <a:srgbClr val="6FD2E1"/>
            </a:solidFill>
          </p:spPr>
        </p:sp>
      </p:grpSp>
      <p:sp>
        <p:nvSpPr>
          <p:cNvPr name="TextBox 26" id="26"/>
          <p:cNvSpPr txBox="true"/>
          <p:nvPr/>
        </p:nvSpPr>
        <p:spPr>
          <a:xfrm rot="0">
            <a:off x="6065710" y="6147105"/>
            <a:ext cx="1855717" cy="6845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77"/>
              </a:lnSpc>
            </a:pPr>
            <a:r>
              <a:rPr lang="en-US" sz="1983">
                <a:solidFill>
                  <a:srgbClr val="000000"/>
                </a:solidFill>
                <a:latin typeface="Fira Sans Medium"/>
                <a:ea typeface="Fira Sans Medium"/>
                <a:cs typeface="Fira Sans Medium"/>
                <a:sym typeface="Fira Sans Medium"/>
              </a:rPr>
              <a:t>MediaPipe Data with Python</a:t>
            </a:r>
          </a:p>
        </p:txBody>
      </p:sp>
      <p:sp>
        <p:nvSpPr>
          <p:cNvPr name="Freeform 27" id="27"/>
          <p:cNvSpPr/>
          <p:nvPr/>
        </p:nvSpPr>
        <p:spPr>
          <a:xfrm flipH="false" flipV="false" rot="0">
            <a:off x="15020193" y="3894696"/>
            <a:ext cx="2031048" cy="822574"/>
          </a:xfrm>
          <a:custGeom>
            <a:avLst/>
            <a:gdLst/>
            <a:ahLst/>
            <a:cxnLst/>
            <a:rect r="r" b="b" t="t" l="l"/>
            <a:pathLst>
              <a:path h="822574" w="2031048">
                <a:moveTo>
                  <a:pt x="0" y="0"/>
                </a:moveTo>
                <a:lnTo>
                  <a:pt x="2031047" y="0"/>
                </a:lnTo>
                <a:lnTo>
                  <a:pt x="2031047" y="822574"/>
                </a:lnTo>
                <a:lnTo>
                  <a:pt x="0" y="822574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4F4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3821567" y="3707820"/>
            <a:ext cx="2889646" cy="938114"/>
            <a:chOff x="0" y="0"/>
            <a:chExt cx="5895299" cy="191389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5895299" cy="1913890"/>
            </a:xfrm>
            <a:custGeom>
              <a:avLst/>
              <a:gdLst/>
              <a:ahLst/>
              <a:cxnLst/>
              <a:rect r="r" b="b" t="t" l="l"/>
              <a:pathLst>
                <a:path h="1913890" w="5895299">
                  <a:moveTo>
                    <a:pt x="5895299" y="956945"/>
                  </a:moveTo>
                  <a:cubicBezTo>
                    <a:pt x="5895299" y="1485392"/>
                    <a:pt x="5466928" y="1913890"/>
                    <a:pt x="4938354" y="1913890"/>
                  </a:cubicBezTo>
                  <a:lnTo>
                    <a:pt x="956945" y="1913890"/>
                  </a:lnTo>
                  <a:cubicBezTo>
                    <a:pt x="428371" y="1913890"/>
                    <a:pt x="0" y="1485392"/>
                    <a:pt x="0" y="956945"/>
                  </a:cubicBezTo>
                  <a:cubicBezTo>
                    <a:pt x="0" y="428371"/>
                    <a:pt x="428371" y="0"/>
                    <a:pt x="956945" y="0"/>
                  </a:cubicBezTo>
                  <a:lnTo>
                    <a:pt x="4938354" y="0"/>
                  </a:lnTo>
                  <a:cubicBezTo>
                    <a:pt x="5466802" y="0"/>
                    <a:pt x="5895299" y="428371"/>
                    <a:pt x="5895299" y="956945"/>
                  </a:cubicBezTo>
                  <a:close/>
                </a:path>
              </a:pathLst>
            </a:custGeom>
            <a:solidFill>
              <a:srgbClr val="6FD2E1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7607682" y="3707820"/>
            <a:ext cx="2490049" cy="938114"/>
            <a:chOff x="0" y="0"/>
            <a:chExt cx="5080062" cy="191389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5080062" cy="1913890"/>
            </a:xfrm>
            <a:custGeom>
              <a:avLst/>
              <a:gdLst/>
              <a:ahLst/>
              <a:cxnLst/>
              <a:rect r="r" b="b" t="t" l="l"/>
              <a:pathLst>
                <a:path h="1913890" w="5080062">
                  <a:moveTo>
                    <a:pt x="5080062" y="956945"/>
                  </a:moveTo>
                  <a:cubicBezTo>
                    <a:pt x="5080062" y="1485392"/>
                    <a:pt x="4651690" y="1913890"/>
                    <a:pt x="4123117" y="1913890"/>
                  </a:cubicBezTo>
                  <a:lnTo>
                    <a:pt x="956945" y="1913890"/>
                  </a:lnTo>
                  <a:cubicBezTo>
                    <a:pt x="428371" y="1913890"/>
                    <a:pt x="0" y="1485392"/>
                    <a:pt x="0" y="956945"/>
                  </a:cubicBezTo>
                  <a:cubicBezTo>
                    <a:pt x="0" y="428371"/>
                    <a:pt x="428371" y="0"/>
                    <a:pt x="956945" y="0"/>
                  </a:cubicBezTo>
                  <a:lnTo>
                    <a:pt x="4123117" y="0"/>
                  </a:lnTo>
                  <a:cubicBezTo>
                    <a:pt x="4651564" y="0"/>
                    <a:pt x="5080062" y="428371"/>
                    <a:pt x="5080062" y="956945"/>
                  </a:cubicBezTo>
                  <a:close/>
                </a:path>
              </a:pathLst>
            </a:custGeom>
            <a:solidFill>
              <a:srgbClr val="6FD2E1"/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9186243" y="6028228"/>
            <a:ext cx="3699088" cy="938114"/>
            <a:chOff x="0" y="0"/>
            <a:chExt cx="7546678" cy="191389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7546678" cy="1913890"/>
            </a:xfrm>
            <a:custGeom>
              <a:avLst/>
              <a:gdLst/>
              <a:ahLst/>
              <a:cxnLst/>
              <a:rect r="r" b="b" t="t" l="l"/>
              <a:pathLst>
                <a:path h="1913890" w="7546678">
                  <a:moveTo>
                    <a:pt x="7546678" y="956945"/>
                  </a:moveTo>
                  <a:cubicBezTo>
                    <a:pt x="7546678" y="1485392"/>
                    <a:pt x="7118307" y="1913890"/>
                    <a:pt x="6589733" y="1913890"/>
                  </a:cubicBezTo>
                  <a:lnTo>
                    <a:pt x="956945" y="1913890"/>
                  </a:lnTo>
                  <a:cubicBezTo>
                    <a:pt x="428371" y="1913890"/>
                    <a:pt x="0" y="1485392"/>
                    <a:pt x="0" y="956945"/>
                  </a:cubicBezTo>
                  <a:cubicBezTo>
                    <a:pt x="0" y="428371"/>
                    <a:pt x="428371" y="0"/>
                    <a:pt x="956945" y="0"/>
                  </a:cubicBezTo>
                  <a:lnTo>
                    <a:pt x="6589733" y="0"/>
                  </a:lnTo>
                  <a:cubicBezTo>
                    <a:pt x="7118180" y="0"/>
                    <a:pt x="7546678" y="428371"/>
                    <a:pt x="7546678" y="956945"/>
                  </a:cubicBezTo>
                  <a:close/>
                </a:path>
              </a:pathLst>
            </a:custGeom>
            <a:solidFill>
              <a:srgbClr val="6FD2E1"/>
            </a:solidFill>
          </p:spPr>
        </p:sp>
      </p:grpSp>
      <p:grpSp>
        <p:nvGrpSpPr>
          <p:cNvPr name="Group 8" id="8"/>
          <p:cNvGrpSpPr/>
          <p:nvPr/>
        </p:nvGrpSpPr>
        <p:grpSpPr>
          <a:xfrm rot="0">
            <a:off x="11289137" y="3718945"/>
            <a:ext cx="3177296" cy="938114"/>
            <a:chOff x="0" y="0"/>
            <a:chExt cx="6482146" cy="191389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6482146" cy="1913890"/>
            </a:xfrm>
            <a:custGeom>
              <a:avLst/>
              <a:gdLst/>
              <a:ahLst/>
              <a:cxnLst/>
              <a:rect r="r" b="b" t="t" l="l"/>
              <a:pathLst>
                <a:path h="1913890" w="6482146">
                  <a:moveTo>
                    <a:pt x="6482146" y="956945"/>
                  </a:moveTo>
                  <a:cubicBezTo>
                    <a:pt x="6482146" y="1485392"/>
                    <a:pt x="6053775" y="1913890"/>
                    <a:pt x="5525201" y="1913890"/>
                  </a:cubicBezTo>
                  <a:lnTo>
                    <a:pt x="956945" y="1913890"/>
                  </a:lnTo>
                  <a:cubicBezTo>
                    <a:pt x="428371" y="1913890"/>
                    <a:pt x="0" y="1485392"/>
                    <a:pt x="0" y="956945"/>
                  </a:cubicBezTo>
                  <a:cubicBezTo>
                    <a:pt x="0" y="428371"/>
                    <a:pt x="428371" y="0"/>
                    <a:pt x="956945" y="0"/>
                  </a:cubicBezTo>
                  <a:lnTo>
                    <a:pt x="5525201" y="0"/>
                  </a:lnTo>
                  <a:cubicBezTo>
                    <a:pt x="6053648" y="0"/>
                    <a:pt x="6482146" y="428371"/>
                    <a:pt x="6482146" y="956945"/>
                  </a:cubicBezTo>
                  <a:close/>
                </a:path>
              </a:pathLst>
            </a:custGeom>
            <a:solidFill>
              <a:srgbClr val="A4E473"/>
            </a:solidFill>
          </p:spPr>
        </p:sp>
      </p:grpSp>
      <p:sp>
        <p:nvSpPr>
          <p:cNvPr name="Freeform 10" id="10"/>
          <p:cNvSpPr/>
          <p:nvPr/>
        </p:nvSpPr>
        <p:spPr>
          <a:xfrm flipH="false" flipV="false" rot="0">
            <a:off x="-3529745" y="-1022055"/>
            <a:ext cx="19846242" cy="1299027"/>
          </a:xfrm>
          <a:custGeom>
            <a:avLst/>
            <a:gdLst/>
            <a:ahLst/>
            <a:cxnLst/>
            <a:rect r="r" b="b" t="t" l="l"/>
            <a:pathLst>
              <a:path h="1299027" w="19846242">
                <a:moveTo>
                  <a:pt x="0" y="0"/>
                </a:moveTo>
                <a:lnTo>
                  <a:pt x="19846242" y="0"/>
                </a:lnTo>
                <a:lnTo>
                  <a:pt x="19846242" y="1299027"/>
                </a:lnTo>
                <a:lnTo>
                  <a:pt x="0" y="129902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1" id="11"/>
          <p:cNvGrpSpPr/>
          <p:nvPr/>
        </p:nvGrpSpPr>
        <p:grpSpPr>
          <a:xfrm rot="0">
            <a:off x="16035716" y="-1022055"/>
            <a:ext cx="3423948" cy="2965155"/>
            <a:chOff x="0" y="0"/>
            <a:chExt cx="3619627" cy="3134614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3619627" cy="3134614"/>
            </a:xfrm>
            <a:custGeom>
              <a:avLst/>
              <a:gdLst/>
              <a:ahLst/>
              <a:cxnLst/>
              <a:rect r="r" b="b" t="t" l="l"/>
              <a:pathLst>
                <a:path h="3134614" w="3619627">
                  <a:moveTo>
                    <a:pt x="3619627" y="1567307"/>
                  </a:moveTo>
                  <a:lnTo>
                    <a:pt x="2714752" y="3134614"/>
                  </a:lnTo>
                  <a:lnTo>
                    <a:pt x="904875" y="3134614"/>
                  </a:lnTo>
                  <a:lnTo>
                    <a:pt x="0" y="1567307"/>
                  </a:lnTo>
                  <a:lnTo>
                    <a:pt x="904875" y="0"/>
                  </a:lnTo>
                  <a:lnTo>
                    <a:pt x="2714625" y="0"/>
                  </a:lnTo>
                  <a:lnTo>
                    <a:pt x="3619627" y="1567307"/>
                  </a:lnTo>
                  <a:close/>
                </a:path>
              </a:pathLst>
            </a:custGeom>
            <a:solidFill>
              <a:srgbClr val="004651"/>
            </a:solidFill>
          </p:spPr>
        </p:sp>
      </p:grpSp>
      <p:grpSp>
        <p:nvGrpSpPr>
          <p:cNvPr name="Group 13" id="13"/>
          <p:cNvGrpSpPr/>
          <p:nvPr/>
        </p:nvGrpSpPr>
        <p:grpSpPr>
          <a:xfrm rot="0">
            <a:off x="15373694" y="-355949"/>
            <a:ext cx="1885606" cy="1632943"/>
            <a:chOff x="0" y="0"/>
            <a:chExt cx="3619627" cy="3134614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3619627" cy="3134614"/>
            </a:xfrm>
            <a:custGeom>
              <a:avLst/>
              <a:gdLst/>
              <a:ahLst/>
              <a:cxnLst/>
              <a:rect r="r" b="b" t="t" l="l"/>
              <a:pathLst>
                <a:path h="3134614" w="3619627">
                  <a:moveTo>
                    <a:pt x="3619627" y="1567307"/>
                  </a:moveTo>
                  <a:lnTo>
                    <a:pt x="2714752" y="3134614"/>
                  </a:lnTo>
                  <a:lnTo>
                    <a:pt x="904875" y="3134614"/>
                  </a:lnTo>
                  <a:lnTo>
                    <a:pt x="0" y="1567307"/>
                  </a:lnTo>
                  <a:lnTo>
                    <a:pt x="904875" y="0"/>
                  </a:lnTo>
                  <a:lnTo>
                    <a:pt x="2714625" y="0"/>
                  </a:lnTo>
                  <a:lnTo>
                    <a:pt x="3619627" y="1567307"/>
                  </a:lnTo>
                  <a:close/>
                </a:path>
              </a:pathLst>
            </a:custGeom>
            <a:solidFill>
              <a:srgbClr val="00A181"/>
            </a:solidFill>
          </p:spPr>
        </p:sp>
      </p:grpSp>
      <p:sp>
        <p:nvSpPr>
          <p:cNvPr name="Freeform 15" id="15"/>
          <p:cNvSpPr/>
          <p:nvPr/>
        </p:nvSpPr>
        <p:spPr>
          <a:xfrm flipH="false" flipV="false" rot="2700000">
            <a:off x="5450606" y="5118374"/>
            <a:ext cx="1087687" cy="440513"/>
          </a:xfrm>
          <a:custGeom>
            <a:avLst/>
            <a:gdLst/>
            <a:ahLst/>
            <a:cxnLst/>
            <a:rect r="r" b="b" t="t" l="l"/>
            <a:pathLst>
              <a:path h="440513" w="1087687">
                <a:moveTo>
                  <a:pt x="0" y="0"/>
                </a:moveTo>
                <a:lnTo>
                  <a:pt x="1087688" y="0"/>
                </a:lnTo>
                <a:lnTo>
                  <a:pt x="1087688" y="440514"/>
                </a:lnTo>
                <a:lnTo>
                  <a:pt x="0" y="440514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6" id="16"/>
          <p:cNvSpPr txBox="true"/>
          <p:nvPr/>
        </p:nvSpPr>
        <p:spPr>
          <a:xfrm rot="0">
            <a:off x="6614434" y="1447800"/>
            <a:ext cx="5059131" cy="6445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199"/>
              </a:lnSpc>
              <a:spcBef>
                <a:spcPct val="0"/>
              </a:spcBef>
            </a:pPr>
            <a:r>
              <a:rPr lang="en-US" sz="3999" spc="-39" u="sng">
                <a:solidFill>
                  <a:srgbClr val="000000"/>
                </a:solidFill>
                <a:latin typeface="Fira Sans Medium"/>
                <a:ea typeface="Fira Sans Medium"/>
                <a:cs typeface="Fira Sans Medium"/>
                <a:sym typeface="Fira Sans Medium"/>
              </a:rPr>
              <a:t>Methodology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4189631" y="3826697"/>
            <a:ext cx="2153519" cy="6845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77"/>
              </a:lnSpc>
            </a:pPr>
            <a:r>
              <a:rPr lang="en-US" sz="1983">
                <a:solidFill>
                  <a:srgbClr val="000000"/>
                </a:solidFill>
                <a:latin typeface="Fira Sans Medium"/>
                <a:ea typeface="Fira Sans Medium"/>
                <a:cs typeface="Fira Sans Medium"/>
                <a:sym typeface="Fira Sans Medium"/>
              </a:rPr>
              <a:t>Record Video with Standard Webcam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7924848" y="3826697"/>
            <a:ext cx="1855717" cy="6845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77"/>
              </a:lnSpc>
            </a:pPr>
            <a:r>
              <a:rPr lang="en-US" sz="1983">
                <a:solidFill>
                  <a:srgbClr val="000000"/>
                </a:solidFill>
                <a:latin typeface="Fira Sans Medium"/>
                <a:ea typeface="Fira Sans Medium"/>
                <a:cs typeface="Fira Sans Medium"/>
                <a:sym typeface="Fira Sans Medium"/>
              </a:rPr>
              <a:t>Setup Unreal Engine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9657408" y="6147105"/>
            <a:ext cx="2756758" cy="6845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77"/>
              </a:lnSpc>
            </a:pPr>
            <a:r>
              <a:rPr lang="en-US" sz="1983">
                <a:solidFill>
                  <a:srgbClr val="000000"/>
                </a:solidFill>
                <a:latin typeface="Fira Sans Medium"/>
                <a:ea typeface="Fira Sans Medium"/>
                <a:cs typeface="Fira Sans Medium"/>
                <a:sym typeface="Fira Sans Medium"/>
              </a:rPr>
              <a:t>Integrate MediaPipe Data into Unreal Engine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11693307" y="3826697"/>
            <a:ext cx="2384047" cy="66226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67"/>
              </a:lnSpc>
            </a:pPr>
            <a:r>
              <a:rPr lang="en-US" sz="1905">
                <a:solidFill>
                  <a:srgbClr val="000000"/>
                </a:solidFill>
                <a:latin typeface="Fira Sans Medium"/>
                <a:ea typeface="Fira Sans Medium"/>
                <a:cs typeface="Fira Sans Medium"/>
                <a:sym typeface="Fira Sans Medium"/>
              </a:rPr>
              <a:t>Visualization for Baseline Comparison</a:t>
            </a:r>
          </a:p>
        </p:txBody>
      </p:sp>
      <p:sp>
        <p:nvSpPr>
          <p:cNvPr name="Freeform 21" id="21"/>
          <p:cNvSpPr/>
          <p:nvPr/>
        </p:nvSpPr>
        <p:spPr>
          <a:xfrm flipH="false" flipV="false" rot="-3463864">
            <a:off x="7540431" y="5219405"/>
            <a:ext cx="1087687" cy="440513"/>
          </a:xfrm>
          <a:custGeom>
            <a:avLst/>
            <a:gdLst/>
            <a:ahLst/>
            <a:cxnLst/>
            <a:rect r="r" b="b" t="t" l="l"/>
            <a:pathLst>
              <a:path h="440513" w="1087687">
                <a:moveTo>
                  <a:pt x="0" y="0"/>
                </a:moveTo>
                <a:lnTo>
                  <a:pt x="1087688" y="0"/>
                </a:lnTo>
                <a:lnTo>
                  <a:pt x="1087688" y="440513"/>
                </a:lnTo>
                <a:lnTo>
                  <a:pt x="0" y="440513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2" id="22"/>
          <p:cNvSpPr/>
          <p:nvPr/>
        </p:nvSpPr>
        <p:spPr>
          <a:xfrm flipH="false" flipV="false" rot="-3463864">
            <a:off x="11102541" y="5219405"/>
            <a:ext cx="1087687" cy="440513"/>
          </a:xfrm>
          <a:custGeom>
            <a:avLst/>
            <a:gdLst/>
            <a:ahLst/>
            <a:cxnLst/>
            <a:rect r="r" b="b" t="t" l="l"/>
            <a:pathLst>
              <a:path h="440513" w="1087687">
                <a:moveTo>
                  <a:pt x="0" y="0"/>
                </a:moveTo>
                <a:lnTo>
                  <a:pt x="1087687" y="0"/>
                </a:lnTo>
                <a:lnTo>
                  <a:pt x="1087687" y="440513"/>
                </a:lnTo>
                <a:lnTo>
                  <a:pt x="0" y="440513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3" id="23"/>
          <p:cNvSpPr/>
          <p:nvPr/>
        </p:nvSpPr>
        <p:spPr>
          <a:xfrm flipH="false" flipV="false" rot="2700000">
            <a:off x="9469959" y="5182264"/>
            <a:ext cx="1087687" cy="440513"/>
          </a:xfrm>
          <a:custGeom>
            <a:avLst/>
            <a:gdLst/>
            <a:ahLst/>
            <a:cxnLst/>
            <a:rect r="r" b="b" t="t" l="l"/>
            <a:pathLst>
              <a:path h="440513" w="1087687">
                <a:moveTo>
                  <a:pt x="0" y="0"/>
                </a:moveTo>
                <a:lnTo>
                  <a:pt x="1087687" y="0"/>
                </a:lnTo>
                <a:lnTo>
                  <a:pt x="1087687" y="440513"/>
                </a:lnTo>
                <a:lnTo>
                  <a:pt x="0" y="440513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24" id="24"/>
          <p:cNvGrpSpPr/>
          <p:nvPr/>
        </p:nvGrpSpPr>
        <p:grpSpPr>
          <a:xfrm rot="0">
            <a:off x="5748544" y="6028228"/>
            <a:ext cx="2490049" cy="938114"/>
            <a:chOff x="0" y="0"/>
            <a:chExt cx="5080062" cy="1913890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5080062" cy="1913890"/>
            </a:xfrm>
            <a:custGeom>
              <a:avLst/>
              <a:gdLst/>
              <a:ahLst/>
              <a:cxnLst/>
              <a:rect r="r" b="b" t="t" l="l"/>
              <a:pathLst>
                <a:path h="1913890" w="5080062">
                  <a:moveTo>
                    <a:pt x="5080062" y="956945"/>
                  </a:moveTo>
                  <a:cubicBezTo>
                    <a:pt x="5080062" y="1485392"/>
                    <a:pt x="4651690" y="1913890"/>
                    <a:pt x="4123117" y="1913890"/>
                  </a:cubicBezTo>
                  <a:lnTo>
                    <a:pt x="956945" y="1913890"/>
                  </a:lnTo>
                  <a:cubicBezTo>
                    <a:pt x="428371" y="1913890"/>
                    <a:pt x="0" y="1485392"/>
                    <a:pt x="0" y="956945"/>
                  </a:cubicBezTo>
                  <a:cubicBezTo>
                    <a:pt x="0" y="428371"/>
                    <a:pt x="428371" y="0"/>
                    <a:pt x="956945" y="0"/>
                  </a:cubicBezTo>
                  <a:lnTo>
                    <a:pt x="4123117" y="0"/>
                  </a:lnTo>
                  <a:cubicBezTo>
                    <a:pt x="4651564" y="0"/>
                    <a:pt x="5080062" y="428371"/>
                    <a:pt x="5080062" y="956945"/>
                  </a:cubicBezTo>
                  <a:close/>
                </a:path>
              </a:pathLst>
            </a:custGeom>
            <a:solidFill>
              <a:srgbClr val="6FD2E1"/>
            </a:solidFill>
          </p:spPr>
        </p:sp>
      </p:grpSp>
      <p:sp>
        <p:nvSpPr>
          <p:cNvPr name="TextBox 26" id="26"/>
          <p:cNvSpPr txBox="true"/>
          <p:nvPr/>
        </p:nvSpPr>
        <p:spPr>
          <a:xfrm rot="0">
            <a:off x="6065710" y="6147105"/>
            <a:ext cx="1855717" cy="6845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77"/>
              </a:lnSpc>
            </a:pPr>
            <a:r>
              <a:rPr lang="en-US" sz="1983">
                <a:solidFill>
                  <a:srgbClr val="000000"/>
                </a:solidFill>
                <a:latin typeface="Fira Sans Medium"/>
                <a:ea typeface="Fira Sans Medium"/>
                <a:cs typeface="Fira Sans Medium"/>
                <a:sym typeface="Fira Sans Medium"/>
              </a:rPr>
              <a:t>MediaPipe Data with Python</a:t>
            </a:r>
          </a:p>
        </p:txBody>
      </p:sp>
      <p:sp>
        <p:nvSpPr>
          <p:cNvPr name="Freeform 27" id="27"/>
          <p:cNvSpPr/>
          <p:nvPr/>
        </p:nvSpPr>
        <p:spPr>
          <a:xfrm flipH="false" flipV="false" rot="0">
            <a:off x="15020193" y="3894696"/>
            <a:ext cx="2031048" cy="822574"/>
          </a:xfrm>
          <a:custGeom>
            <a:avLst/>
            <a:gdLst/>
            <a:ahLst/>
            <a:cxnLst/>
            <a:rect r="r" b="b" t="t" l="l"/>
            <a:pathLst>
              <a:path h="822574" w="2031048">
                <a:moveTo>
                  <a:pt x="0" y="0"/>
                </a:moveTo>
                <a:lnTo>
                  <a:pt x="2031047" y="0"/>
                </a:lnTo>
                <a:lnTo>
                  <a:pt x="2031047" y="822574"/>
                </a:lnTo>
                <a:lnTo>
                  <a:pt x="0" y="822574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4F4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3821567" y="3707820"/>
            <a:ext cx="2889646" cy="938114"/>
            <a:chOff x="0" y="0"/>
            <a:chExt cx="5895299" cy="191389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5895299" cy="1913890"/>
            </a:xfrm>
            <a:custGeom>
              <a:avLst/>
              <a:gdLst/>
              <a:ahLst/>
              <a:cxnLst/>
              <a:rect r="r" b="b" t="t" l="l"/>
              <a:pathLst>
                <a:path h="1913890" w="5895299">
                  <a:moveTo>
                    <a:pt x="5895299" y="956945"/>
                  </a:moveTo>
                  <a:cubicBezTo>
                    <a:pt x="5895299" y="1485392"/>
                    <a:pt x="5466928" y="1913890"/>
                    <a:pt x="4938354" y="1913890"/>
                  </a:cubicBezTo>
                  <a:lnTo>
                    <a:pt x="956945" y="1913890"/>
                  </a:lnTo>
                  <a:cubicBezTo>
                    <a:pt x="428371" y="1913890"/>
                    <a:pt x="0" y="1485392"/>
                    <a:pt x="0" y="956945"/>
                  </a:cubicBezTo>
                  <a:cubicBezTo>
                    <a:pt x="0" y="428371"/>
                    <a:pt x="428371" y="0"/>
                    <a:pt x="956945" y="0"/>
                  </a:cubicBezTo>
                  <a:lnTo>
                    <a:pt x="4938354" y="0"/>
                  </a:lnTo>
                  <a:cubicBezTo>
                    <a:pt x="5466802" y="0"/>
                    <a:pt x="5895299" y="428371"/>
                    <a:pt x="5895299" y="956945"/>
                  </a:cubicBezTo>
                  <a:close/>
                </a:path>
              </a:pathLst>
            </a:custGeom>
            <a:solidFill>
              <a:srgbClr val="A4E473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7607682" y="3707820"/>
            <a:ext cx="2946421" cy="938114"/>
            <a:chOff x="0" y="0"/>
            <a:chExt cx="6011127" cy="191389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6011127" cy="1913890"/>
            </a:xfrm>
            <a:custGeom>
              <a:avLst/>
              <a:gdLst/>
              <a:ahLst/>
              <a:cxnLst/>
              <a:rect r="r" b="b" t="t" l="l"/>
              <a:pathLst>
                <a:path h="1913890" w="6011127">
                  <a:moveTo>
                    <a:pt x="6011127" y="956945"/>
                  </a:moveTo>
                  <a:cubicBezTo>
                    <a:pt x="6011127" y="1485392"/>
                    <a:pt x="5582756" y="1913890"/>
                    <a:pt x="5054182" y="1913890"/>
                  </a:cubicBezTo>
                  <a:lnTo>
                    <a:pt x="956945" y="1913890"/>
                  </a:lnTo>
                  <a:cubicBezTo>
                    <a:pt x="428371" y="1913890"/>
                    <a:pt x="0" y="1485392"/>
                    <a:pt x="0" y="956945"/>
                  </a:cubicBezTo>
                  <a:cubicBezTo>
                    <a:pt x="0" y="428371"/>
                    <a:pt x="428371" y="0"/>
                    <a:pt x="956945" y="0"/>
                  </a:cubicBezTo>
                  <a:lnTo>
                    <a:pt x="5054182" y="0"/>
                  </a:lnTo>
                  <a:cubicBezTo>
                    <a:pt x="5582629" y="0"/>
                    <a:pt x="6011127" y="428371"/>
                    <a:pt x="6011127" y="956945"/>
                  </a:cubicBezTo>
                  <a:close/>
                </a:path>
              </a:pathLst>
            </a:custGeom>
            <a:solidFill>
              <a:srgbClr val="6FD2E1"/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9186243" y="6028228"/>
            <a:ext cx="3699088" cy="938114"/>
            <a:chOff x="0" y="0"/>
            <a:chExt cx="7546678" cy="191389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7546678" cy="1913890"/>
            </a:xfrm>
            <a:custGeom>
              <a:avLst/>
              <a:gdLst/>
              <a:ahLst/>
              <a:cxnLst/>
              <a:rect r="r" b="b" t="t" l="l"/>
              <a:pathLst>
                <a:path h="1913890" w="7546678">
                  <a:moveTo>
                    <a:pt x="7546678" y="956945"/>
                  </a:moveTo>
                  <a:cubicBezTo>
                    <a:pt x="7546678" y="1485392"/>
                    <a:pt x="7118307" y="1913890"/>
                    <a:pt x="6589733" y="1913890"/>
                  </a:cubicBezTo>
                  <a:lnTo>
                    <a:pt x="956945" y="1913890"/>
                  </a:lnTo>
                  <a:cubicBezTo>
                    <a:pt x="428371" y="1913890"/>
                    <a:pt x="0" y="1485392"/>
                    <a:pt x="0" y="956945"/>
                  </a:cubicBezTo>
                  <a:cubicBezTo>
                    <a:pt x="0" y="428371"/>
                    <a:pt x="428371" y="0"/>
                    <a:pt x="956945" y="0"/>
                  </a:cubicBezTo>
                  <a:lnTo>
                    <a:pt x="6589733" y="0"/>
                  </a:lnTo>
                  <a:cubicBezTo>
                    <a:pt x="7118180" y="0"/>
                    <a:pt x="7546678" y="428371"/>
                    <a:pt x="7546678" y="956945"/>
                  </a:cubicBezTo>
                  <a:close/>
                </a:path>
              </a:pathLst>
            </a:custGeom>
            <a:solidFill>
              <a:srgbClr val="6FD2E1"/>
            </a:solidFill>
          </p:spPr>
        </p:sp>
      </p:grpSp>
      <p:grpSp>
        <p:nvGrpSpPr>
          <p:cNvPr name="Group 8" id="8"/>
          <p:cNvGrpSpPr/>
          <p:nvPr/>
        </p:nvGrpSpPr>
        <p:grpSpPr>
          <a:xfrm rot="0">
            <a:off x="11289137" y="3718945"/>
            <a:ext cx="3177296" cy="938114"/>
            <a:chOff x="0" y="0"/>
            <a:chExt cx="6482146" cy="191389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6482146" cy="1913890"/>
            </a:xfrm>
            <a:custGeom>
              <a:avLst/>
              <a:gdLst/>
              <a:ahLst/>
              <a:cxnLst/>
              <a:rect r="r" b="b" t="t" l="l"/>
              <a:pathLst>
                <a:path h="1913890" w="6482146">
                  <a:moveTo>
                    <a:pt x="6482146" y="956945"/>
                  </a:moveTo>
                  <a:cubicBezTo>
                    <a:pt x="6482146" y="1485392"/>
                    <a:pt x="6053775" y="1913890"/>
                    <a:pt x="5525201" y="1913890"/>
                  </a:cubicBezTo>
                  <a:lnTo>
                    <a:pt x="956945" y="1913890"/>
                  </a:lnTo>
                  <a:cubicBezTo>
                    <a:pt x="428371" y="1913890"/>
                    <a:pt x="0" y="1485392"/>
                    <a:pt x="0" y="956945"/>
                  </a:cubicBezTo>
                  <a:cubicBezTo>
                    <a:pt x="0" y="428371"/>
                    <a:pt x="428371" y="0"/>
                    <a:pt x="956945" y="0"/>
                  </a:cubicBezTo>
                  <a:lnTo>
                    <a:pt x="5525201" y="0"/>
                  </a:lnTo>
                  <a:cubicBezTo>
                    <a:pt x="6053648" y="0"/>
                    <a:pt x="6482146" y="428371"/>
                    <a:pt x="6482146" y="956945"/>
                  </a:cubicBezTo>
                  <a:close/>
                </a:path>
              </a:pathLst>
            </a:custGeom>
            <a:solidFill>
              <a:srgbClr val="6FD2E1"/>
            </a:solidFill>
          </p:spPr>
        </p:sp>
      </p:grpSp>
      <p:sp>
        <p:nvSpPr>
          <p:cNvPr name="Freeform 10" id="10"/>
          <p:cNvSpPr/>
          <p:nvPr/>
        </p:nvSpPr>
        <p:spPr>
          <a:xfrm flipH="false" flipV="false" rot="0">
            <a:off x="-3529745" y="-1022055"/>
            <a:ext cx="19846242" cy="1299027"/>
          </a:xfrm>
          <a:custGeom>
            <a:avLst/>
            <a:gdLst/>
            <a:ahLst/>
            <a:cxnLst/>
            <a:rect r="r" b="b" t="t" l="l"/>
            <a:pathLst>
              <a:path h="1299027" w="19846242">
                <a:moveTo>
                  <a:pt x="0" y="0"/>
                </a:moveTo>
                <a:lnTo>
                  <a:pt x="19846242" y="0"/>
                </a:lnTo>
                <a:lnTo>
                  <a:pt x="19846242" y="1299027"/>
                </a:lnTo>
                <a:lnTo>
                  <a:pt x="0" y="129902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1" id="11"/>
          <p:cNvGrpSpPr/>
          <p:nvPr/>
        </p:nvGrpSpPr>
        <p:grpSpPr>
          <a:xfrm rot="0">
            <a:off x="16035716" y="-1022055"/>
            <a:ext cx="3423948" cy="2965155"/>
            <a:chOff x="0" y="0"/>
            <a:chExt cx="3619627" cy="3134614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3619627" cy="3134614"/>
            </a:xfrm>
            <a:custGeom>
              <a:avLst/>
              <a:gdLst/>
              <a:ahLst/>
              <a:cxnLst/>
              <a:rect r="r" b="b" t="t" l="l"/>
              <a:pathLst>
                <a:path h="3134614" w="3619627">
                  <a:moveTo>
                    <a:pt x="3619627" y="1567307"/>
                  </a:moveTo>
                  <a:lnTo>
                    <a:pt x="2714752" y="3134614"/>
                  </a:lnTo>
                  <a:lnTo>
                    <a:pt x="904875" y="3134614"/>
                  </a:lnTo>
                  <a:lnTo>
                    <a:pt x="0" y="1567307"/>
                  </a:lnTo>
                  <a:lnTo>
                    <a:pt x="904875" y="0"/>
                  </a:lnTo>
                  <a:lnTo>
                    <a:pt x="2714625" y="0"/>
                  </a:lnTo>
                  <a:lnTo>
                    <a:pt x="3619627" y="1567307"/>
                  </a:lnTo>
                  <a:close/>
                </a:path>
              </a:pathLst>
            </a:custGeom>
            <a:solidFill>
              <a:srgbClr val="004651"/>
            </a:solidFill>
          </p:spPr>
        </p:sp>
      </p:grpSp>
      <p:grpSp>
        <p:nvGrpSpPr>
          <p:cNvPr name="Group 13" id="13"/>
          <p:cNvGrpSpPr/>
          <p:nvPr/>
        </p:nvGrpSpPr>
        <p:grpSpPr>
          <a:xfrm rot="0">
            <a:off x="15373694" y="-355949"/>
            <a:ext cx="1885606" cy="1632943"/>
            <a:chOff x="0" y="0"/>
            <a:chExt cx="3619627" cy="3134614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3619627" cy="3134614"/>
            </a:xfrm>
            <a:custGeom>
              <a:avLst/>
              <a:gdLst/>
              <a:ahLst/>
              <a:cxnLst/>
              <a:rect r="r" b="b" t="t" l="l"/>
              <a:pathLst>
                <a:path h="3134614" w="3619627">
                  <a:moveTo>
                    <a:pt x="3619627" y="1567307"/>
                  </a:moveTo>
                  <a:lnTo>
                    <a:pt x="2714752" y="3134614"/>
                  </a:lnTo>
                  <a:lnTo>
                    <a:pt x="904875" y="3134614"/>
                  </a:lnTo>
                  <a:lnTo>
                    <a:pt x="0" y="1567307"/>
                  </a:lnTo>
                  <a:lnTo>
                    <a:pt x="904875" y="0"/>
                  </a:lnTo>
                  <a:lnTo>
                    <a:pt x="2714625" y="0"/>
                  </a:lnTo>
                  <a:lnTo>
                    <a:pt x="3619627" y="1567307"/>
                  </a:lnTo>
                  <a:close/>
                </a:path>
              </a:pathLst>
            </a:custGeom>
            <a:solidFill>
              <a:srgbClr val="00A181"/>
            </a:solidFill>
          </p:spPr>
        </p:sp>
      </p:grpSp>
      <p:sp>
        <p:nvSpPr>
          <p:cNvPr name="Freeform 15" id="15"/>
          <p:cNvSpPr/>
          <p:nvPr/>
        </p:nvSpPr>
        <p:spPr>
          <a:xfrm flipH="false" flipV="false" rot="2700000">
            <a:off x="5450606" y="5118374"/>
            <a:ext cx="1087687" cy="440513"/>
          </a:xfrm>
          <a:custGeom>
            <a:avLst/>
            <a:gdLst/>
            <a:ahLst/>
            <a:cxnLst/>
            <a:rect r="r" b="b" t="t" l="l"/>
            <a:pathLst>
              <a:path h="440513" w="1087687">
                <a:moveTo>
                  <a:pt x="0" y="0"/>
                </a:moveTo>
                <a:lnTo>
                  <a:pt x="1087688" y="0"/>
                </a:lnTo>
                <a:lnTo>
                  <a:pt x="1087688" y="440514"/>
                </a:lnTo>
                <a:lnTo>
                  <a:pt x="0" y="440514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6" id="16"/>
          <p:cNvSpPr txBox="true"/>
          <p:nvPr/>
        </p:nvSpPr>
        <p:spPr>
          <a:xfrm rot="0">
            <a:off x="6614434" y="1447800"/>
            <a:ext cx="5059131" cy="6445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199"/>
              </a:lnSpc>
              <a:spcBef>
                <a:spcPct val="0"/>
              </a:spcBef>
            </a:pPr>
            <a:r>
              <a:rPr lang="en-US" sz="3999" spc="-39" u="sng">
                <a:solidFill>
                  <a:srgbClr val="000000"/>
                </a:solidFill>
                <a:latin typeface="Fira Sans Medium"/>
                <a:ea typeface="Fira Sans Medium"/>
                <a:cs typeface="Fira Sans Medium"/>
                <a:sym typeface="Fira Sans Medium"/>
              </a:rPr>
              <a:t>Methodology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4189631" y="3826697"/>
            <a:ext cx="2153519" cy="6845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77"/>
              </a:lnSpc>
            </a:pPr>
            <a:r>
              <a:rPr lang="en-US" sz="1983">
                <a:solidFill>
                  <a:srgbClr val="000000"/>
                </a:solidFill>
                <a:latin typeface="Fira Sans Medium"/>
                <a:ea typeface="Fira Sans Medium"/>
                <a:cs typeface="Fira Sans Medium"/>
                <a:sym typeface="Fira Sans Medium"/>
              </a:rPr>
              <a:t>Apply Filtering Methods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7982977" y="3826697"/>
            <a:ext cx="2195830" cy="6845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77"/>
              </a:lnSpc>
            </a:pPr>
            <a:r>
              <a:rPr lang="en-US" sz="1983">
                <a:solidFill>
                  <a:srgbClr val="000000"/>
                </a:solidFill>
                <a:latin typeface="Fira Sans Medium"/>
                <a:ea typeface="Fira Sans Medium"/>
                <a:cs typeface="Fira Sans Medium"/>
                <a:sym typeface="Fira Sans Medium"/>
              </a:rPr>
              <a:t>Calculate Filtering Evaluation Metrics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9657408" y="6147105"/>
            <a:ext cx="2756758" cy="6845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77"/>
              </a:lnSpc>
            </a:pPr>
            <a:r>
              <a:rPr lang="en-US" sz="1983">
                <a:solidFill>
                  <a:srgbClr val="000000"/>
                </a:solidFill>
                <a:latin typeface="Fira Sans Medium"/>
                <a:ea typeface="Fira Sans Medium"/>
                <a:cs typeface="Fira Sans Medium"/>
                <a:sym typeface="Fira Sans Medium"/>
              </a:rPr>
              <a:t>Qualitative Analysis and Comparison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11693307" y="3826697"/>
            <a:ext cx="2384047" cy="66226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67"/>
              </a:lnSpc>
            </a:pPr>
            <a:r>
              <a:rPr lang="en-US" sz="1905">
                <a:solidFill>
                  <a:srgbClr val="000000"/>
                </a:solidFill>
                <a:latin typeface="Fira Sans Medium"/>
                <a:ea typeface="Fira Sans Medium"/>
                <a:cs typeface="Fira Sans Medium"/>
                <a:sym typeface="Fira Sans Medium"/>
              </a:rPr>
              <a:t>Integrate All into One Pipeline</a:t>
            </a:r>
          </a:p>
        </p:txBody>
      </p:sp>
      <p:sp>
        <p:nvSpPr>
          <p:cNvPr name="Freeform 21" id="21"/>
          <p:cNvSpPr/>
          <p:nvPr/>
        </p:nvSpPr>
        <p:spPr>
          <a:xfrm flipH="false" flipV="false" rot="-3463864">
            <a:off x="7540431" y="5219405"/>
            <a:ext cx="1087687" cy="440513"/>
          </a:xfrm>
          <a:custGeom>
            <a:avLst/>
            <a:gdLst/>
            <a:ahLst/>
            <a:cxnLst/>
            <a:rect r="r" b="b" t="t" l="l"/>
            <a:pathLst>
              <a:path h="440513" w="1087687">
                <a:moveTo>
                  <a:pt x="0" y="0"/>
                </a:moveTo>
                <a:lnTo>
                  <a:pt x="1087688" y="0"/>
                </a:lnTo>
                <a:lnTo>
                  <a:pt x="1087688" y="440513"/>
                </a:lnTo>
                <a:lnTo>
                  <a:pt x="0" y="440513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2" id="22"/>
          <p:cNvSpPr/>
          <p:nvPr/>
        </p:nvSpPr>
        <p:spPr>
          <a:xfrm flipH="false" flipV="false" rot="-3463864">
            <a:off x="11102541" y="5219405"/>
            <a:ext cx="1087687" cy="440513"/>
          </a:xfrm>
          <a:custGeom>
            <a:avLst/>
            <a:gdLst/>
            <a:ahLst/>
            <a:cxnLst/>
            <a:rect r="r" b="b" t="t" l="l"/>
            <a:pathLst>
              <a:path h="440513" w="1087687">
                <a:moveTo>
                  <a:pt x="0" y="0"/>
                </a:moveTo>
                <a:lnTo>
                  <a:pt x="1087687" y="0"/>
                </a:lnTo>
                <a:lnTo>
                  <a:pt x="1087687" y="440513"/>
                </a:lnTo>
                <a:lnTo>
                  <a:pt x="0" y="440513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3" id="23"/>
          <p:cNvSpPr/>
          <p:nvPr/>
        </p:nvSpPr>
        <p:spPr>
          <a:xfrm flipH="false" flipV="false" rot="2700000">
            <a:off x="9469959" y="5182264"/>
            <a:ext cx="1087687" cy="440513"/>
          </a:xfrm>
          <a:custGeom>
            <a:avLst/>
            <a:gdLst/>
            <a:ahLst/>
            <a:cxnLst/>
            <a:rect r="r" b="b" t="t" l="l"/>
            <a:pathLst>
              <a:path h="440513" w="1087687">
                <a:moveTo>
                  <a:pt x="0" y="0"/>
                </a:moveTo>
                <a:lnTo>
                  <a:pt x="1087687" y="0"/>
                </a:lnTo>
                <a:lnTo>
                  <a:pt x="1087687" y="440513"/>
                </a:lnTo>
                <a:lnTo>
                  <a:pt x="0" y="440513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24" id="24"/>
          <p:cNvGrpSpPr/>
          <p:nvPr/>
        </p:nvGrpSpPr>
        <p:grpSpPr>
          <a:xfrm rot="0">
            <a:off x="5748544" y="6028228"/>
            <a:ext cx="2490049" cy="938114"/>
            <a:chOff x="0" y="0"/>
            <a:chExt cx="5080062" cy="1913890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5080062" cy="1913890"/>
            </a:xfrm>
            <a:custGeom>
              <a:avLst/>
              <a:gdLst/>
              <a:ahLst/>
              <a:cxnLst/>
              <a:rect r="r" b="b" t="t" l="l"/>
              <a:pathLst>
                <a:path h="1913890" w="5080062">
                  <a:moveTo>
                    <a:pt x="5080062" y="956945"/>
                  </a:moveTo>
                  <a:cubicBezTo>
                    <a:pt x="5080062" y="1485392"/>
                    <a:pt x="4651690" y="1913890"/>
                    <a:pt x="4123117" y="1913890"/>
                  </a:cubicBezTo>
                  <a:lnTo>
                    <a:pt x="956945" y="1913890"/>
                  </a:lnTo>
                  <a:cubicBezTo>
                    <a:pt x="428371" y="1913890"/>
                    <a:pt x="0" y="1485392"/>
                    <a:pt x="0" y="956945"/>
                  </a:cubicBezTo>
                  <a:cubicBezTo>
                    <a:pt x="0" y="428371"/>
                    <a:pt x="428371" y="0"/>
                    <a:pt x="956945" y="0"/>
                  </a:cubicBezTo>
                  <a:lnTo>
                    <a:pt x="4123117" y="0"/>
                  </a:lnTo>
                  <a:cubicBezTo>
                    <a:pt x="4651564" y="0"/>
                    <a:pt x="5080062" y="428371"/>
                    <a:pt x="5080062" y="956945"/>
                  </a:cubicBezTo>
                  <a:close/>
                </a:path>
              </a:pathLst>
            </a:custGeom>
            <a:solidFill>
              <a:srgbClr val="6FD2E1"/>
            </a:solidFill>
          </p:spPr>
        </p:sp>
      </p:grpSp>
      <p:sp>
        <p:nvSpPr>
          <p:cNvPr name="TextBox 26" id="26"/>
          <p:cNvSpPr txBox="true"/>
          <p:nvPr/>
        </p:nvSpPr>
        <p:spPr>
          <a:xfrm rot="0">
            <a:off x="6065710" y="6147105"/>
            <a:ext cx="1855717" cy="6845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77"/>
              </a:lnSpc>
            </a:pPr>
            <a:r>
              <a:rPr lang="en-US" sz="1983">
                <a:solidFill>
                  <a:srgbClr val="000000"/>
                </a:solidFill>
                <a:latin typeface="Fira Sans Medium"/>
                <a:ea typeface="Fira Sans Medium"/>
                <a:cs typeface="Fira Sans Medium"/>
                <a:sym typeface="Fira Sans Medium"/>
              </a:rPr>
              <a:t>Visualize Results</a:t>
            </a:r>
          </a:p>
        </p:txBody>
      </p:sp>
      <p:sp>
        <p:nvSpPr>
          <p:cNvPr name="Freeform 27" id="27"/>
          <p:cNvSpPr/>
          <p:nvPr/>
        </p:nvSpPr>
        <p:spPr>
          <a:xfrm flipH="false" flipV="false" rot="0">
            <a:off x="895169" y="3776715"/>
            <a:ext cx="2031048" cy="822574"/>
          </a:xfrm>
          <a:custGeom>
            <a:avLst/>
            <a:gdLst/>
            <a:ahLst/>
            <a:cxnLst/>
            <a:rect r="r" b="b" t="t" l="l"/>
            <a:pathLst>
              <a:path h="822574" w="2031048">
                <a:moveTo>
                  <a:pt x="0" y="0"/>
                </a:moveTo>
                <a:lnTo>
                  <a:pt x="2031048" y="0"/>
                </a:lnTo>
                <a:lnTo>
                  <a:pt x="2031048" y="822575"/>
                </a:lnTo>
                <a:lnTo>
                  <a:pt x="0" y="822575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4F4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3529745" y="-1022055"/>
            <a:ext cx="19846242" cy="1299027"/>
          </a:xfrm>
          <a:custGeom>
            <a:avLst/>
            <a:gdLst/>
            <a:ahLst/>
            <a:cxnLst/>
            <a:rect r="r" b="b" t="t" l="l"/>
            <a:pathLst>
              <a:path h="1299027" w="19846242">
                <a:moveTo>
                  <a:pt x="0" y="0"/>
                </a:moveTo>
                <a:lnTo>
                  <a:pt x="19846242" y="0"/>
                </a:lnTo>
                <a:lnTo>
                  <a:pt x="19846242" y="1299027"/>
                </a:lnTo>
                <a:lnTo>
                  <a:pt x="0" y="129902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16035716" y="-1022055"/>
            <a:ext cx="3423948" cy="2965155"/>
            <a:chOff x="0" y="0"/>
            <a:chExt cx="3619627" cy="3134614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3619627" cy="3134614"/>
            </a:xfrm>
            <a:custGeom>
              <a:avLst/>
              <a:gdLst/>
              <a:ahLst/>
              <a:cxnLst/>
              <a:rect r="r" b="b" t="t" l="l"/>
              <a:pathLst>
                <a:path h="3134614" w="3619627">
                  <a:moveTo>
                    <a:pt x="3619627" y="1567307"/>
                  </a:moveTo>
                  <a:lnTo>
                    <a:pt x="2714752" y="3134614"/>
                  </a:lnTo>
                  <a:lnTo>
                    <a:pt x="904875" y="3134614"/>
                  </a:lnTo>
                  <a:lnTo>
                    <a:pt x="0" y="1567307"/>
                  </a:lnTo>
                  <a:lnTo>
                    <a:pt x="904875" y="0"/>
                  </a:lnTo>
                  <a:lnTo>
                    <a:pt x="2714625" y="0"/>
                  </a:lnTo>
                  <a:lnTo>
                    <a:pt x="3619627" y="1567307"/>
                  </a:lnTo>
                  <a:close/>
                </a:path>
              </a:pathLst>
            </a:custGeom>
            <a:solidFill>
              <a:srgbClr val="004651"/>
            </a:solidFill>
          </p:spPr>
        </p:sp>
      </p:grpSp>
      <p:grpSp>
        <p:nvGrpSpPr>
          <p:cNvPr name="Group 5" id="5"/>
          <p:cNvGrpSpPr/>
          <p:nvPr/>
        </p:nvGrpSpPr>
        <p:grpSpPr>
          <a:xfrm rot="0">
            <a:off x="15373694" y="-355949"/>
            <a:ext cx="1885606" cy="1632943"/>
            <a:chOff x="0" y="0"/>
            <a:chExt cx="3619627" cy="3134614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3619627" cy="3134614"/>
            </a:xfrm>
            <a:custGeom>
              <a:avLst/>
              <a:gdLst/>
              <a:ahLst/>
              <a:cxnLst/>
              <a:rect r="r" b="b" t="t" l="l"/>
              <a:pathLst>
                <a:path h="3134614" w="3619627">
                  <a:moveTo>
                    <a:pt x="3619627" y="1567307"/>
                  </a:moveTo>
                  <a:lnTo>
                    <a:pt x="2714752" y="3134614"/>
                  </a:lnTo>
                  <a:lnTo>
                    <a:pt x="904875" y="3134614"/>
                  </a:lnTo>
                  <a:lnTo>
                    <a:pt x="0" y="1567307"/>
                  </a:lnTo>
                  <a:lnTo>
                    <a:pt x="904875" y="0"/>
                  </a:lnTo>
                  <a:lnTo>
                    <a:pt x="2714625" y="0"/>
                  </a:lnTo>
                  <a:lnTo>
                    <a:pt x="3619627" y="1567307"/>
                  </a:lnTo>
                  <a:close/>
                </a:path>
              </a:pathLst>
            </a:custGeom>
            <a:solidFill>
              <a:srgbClr val="00A181"/>
            </a:solidFill>
          </p:spPr>
        </p:sp>
      </p:grpSp>
      <p:sp>
        <p:nvSpPr>
          <p:cNvPr name="TextBox 7" id="7"/>
          <p:cNvSpPr txBox="true"/>
          <p:nvPr/>
        </p:nvSpPr>
        <p:spPr>
          <a:xfrm rot="0">
            <a:off x="3307217" y="1499030"/>
            <a:ext cx="11673566" cy="6445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199"/>
              </a:lnSpc>
              <a:spcBef>
                <a:spcPct val="0"/>
              </a:spcBef>
            </a:pPr>
            <a:r>
              <a:rPr lang="en-US" sz="3999" spc="-39" u="sng">
                <a:solidFill>
                  <a:srgbClr val="000000"/>
                </a:solidFill>
                <a:latin typeface="Fira Sans Medium"/>
                <a:ea typeface="Fira Sans Medium"/>
                <a:cs typeface="Fira Sans Medium"/>
                <a:sym typeface="Fira Sans Medium"/>
              </a:rPr>
              <a:t>Methodology - Standard Linear Kalman Filter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6171713" y="3617829"/>
            <a:ext cx="5944574" cy="3361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77"/>
              </a:lnSpc>
            </a:pPr>
            <a:r>
              <a:rPr lang="en-US" sz="1983">
                <a:solidFill>
                  <a:srgbClr val="000000"/>
                </a:solidFill>
                <a:latin typeface="Fira Sans Medium"/>
                <a:ea typeface="Fira Sans Medium"/>
                <a:cs typeface="Fira Sans Medium"/>
                <a:sym typeface="Fira Sans Medium"/>
              </a:rPr>
              <a:t>[About Standard Linear Kalman Filter Here]</a:t>
            </a:r>
          </a:p>
        </p:txBody>
      </p:sp>
    </p:spTree>
  </p:cSld>
  <p:clrMapOvr>
    <a:masterClrMapping/>
  </p:clrMapOvr>
</p:sld>
</file>

<file path=ppt/slides/slide1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4F4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3529745" y="-1022055"/>
            <a:ext cx="19846242" cy="1299027"/>
          </a:xfrm>
          <a:custGeom>
            <a:avLst/>
            <a:gdLst/>
            <a:ahLst/>
            <a:cxnLst/>
            <a:rect r="r" b="b" t="t" l="l"/>
            <a:pathLst>
              <a:path h="1299027" w="19846242">
                <a:moveTo>
                  <a:pt x="0" y="0"/>
                </a:moveTo>
                <a:lnTo>
                  <a:pt x="19846242" y="0"/>
                </a:lnTo>
                <a:lnTo>
                  <a:pt x="19846242" y="1299027"/>
                </a:lnTo>
                <a:lnTo>
                  <a:pt x="0" y="129902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16035716" y="-1022055"/>
            <a:ext cx="3423948" cy="2965155"/>
            <a:chOff x="0" y="0"/>
            <a:chExt cx="3619627" cy="3134614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3619627" cy="3134614"/>
            </a:xfrm>
            <a:custGeom>
              <a:avLst/>
              <a:gdLst/>
              <a:ahLst/>
              <a:cxnLst/>
              <a:rect r="r" b="b" t="t" l="l"/>
              <a:pathLst>
                <a:path h="3134614" w="3619627">
                  <a:moveTo>
                    <a:pt x="3619627" y="1567307"/>
                  </a:moveTo>
                  <a:lnTo>
                    <a:pt x="2714752" y="3134614"/>
                  </a:lnTo>
                  <a:lnTo>
                    <a:pt x="904875" y="3134614"/>
                  </a:lnTo>
                  <a:lnTo>
                    <a:pt x="0" y="1567307"/>
                  </a:lnTo>
                  <a:lnTo>
                    <a:pt x="904875" y="0"/>
                  </a:lnTo>
                  <a:lnTo>
                    <a:pt x="2714625" y="0"/>
                  </a:lnTo>
                  <a:lnTo>
                    <a:pt x="3619627" y="1567307"/>
                  </a:lnTo>
                  <a:close/>
                </a:path>
              </a:pathLst>
            </a:custGeom>
            <a:solidFill>
              <a:srgbClr val="004651"/>
            </a:solidFill>
          </p:spPr>
        </p:sp>
      </p:grpSp>
      <p:grpSp>
        <p:nvGrpSpPr>
          <p:cNvPr name="Group 5" id="5"/>
          <p:cNvGrpSpPr/>
          <p:nvPr/>
        </p:nvGrpSpPr>
        <p:grpSpPr>
          <a:xfrm rot="0">
            <a:off x="15373694" y="-355949"/>
            <a:ext cx="1885606" cy="1632943"/>
            <a:chOff x="0" y="0"/>
            <a:chExt cx="3619627" cy="3134614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3619627" cy="3134614"/>
            </a:xfrm>
            <a:custGeom>
              <a:avLst/>
              <a:gdLst/>
              <a:ahLst/>
              <a:cxnLst/>
              <a:rect r="r" b="b" t="t" l="l"/>
              <a:pathLst>
                <a:path h="3134614" w="3619627">
                  <a:moveTo>
                    <a:pt x="3619627" y="1567307"/>
                  </a:moveTo>
                  <a:lnTo>
                    <a:pt x="2714752" y="3134614"/>
                  </a:lnTo>
                  <a:lnTo>
                    <a:pt x="904875" y="3134614"/>
                  </a:lnTo>
                  <a:lnTo>
                    <a:pt x="0" y="1567307"/>
                  </a:lnTo>
                  <a:lnTo>
                    <a:pt x="904875" y="0"/>
                  </a:lnTo>
                  <a:lnTo>
                    <a:pt x="2714625" y="0"/>
                  </a:lnTo>
                  <a:lnTo>
                    <a:pt x="3619627" y="1567307"/>
                  </a:lnTo>
                  <a:close/>
                </a:path>
              </a:pathLst>
            </a:custGeom>
            <a:solidFill>
              <a:srgbClr val="00A181"/>
            </a:solidFill>
          </p:spPr>
        </p:sp>
      </p:grpSp>
      <p:sp>
        <p:nvSpPr>
          <p:cNvPr name="TextBox 7" id="7"/>
          <p:cNvSpPr txBox="true"/>
          <p:nvPr/>
        </p:nvSpPr>
        <p:spPr>
          <a:xfrm rot="0">
            <a:off x="3307217" y="1468292"/>
            <a:ext cx="11673566" cy="6445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199"/>
              </a:lnSpc>
              <a:spcBef>
                <a:spcPct val="0"/>
              </a:spcBef>
            </a:pPr>
            <a:r>
              <a:rPr lang="en-US" sz="3999" spc="-39" u="sng">
                <a:solidFill>
                  <a:srgbClr val="000000"/>
                </a:solidFill>
                <a:latin typeface="Fira Sans Medium"/>
                <a:ea typeface="Fira Sans Medium"/>
                <a:cs typeface="Fira Sans Medium"/>
                <a:sym typeface="Fira Sans Medium"/>
              </a:rPr>
              <a:t>Methodology - One Euro Filter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6171713" y="3617829"/>
            <a:ext cx="5944574" cy="3361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77"/>
              </a:lnSpc>
            </a:pPr>
            <a:r>
              <a:rPr lang="en-US" sz="1983">
                <a:solidFill>
                  <a:srgbClr val="000000"/>
                </a:solidFill>
                <a:latin typeface="Fira Sans Medium"/>
                <a:ea typeface="Fira Sans Medium"/>
                <a:cs typeface="Fira Sans Medium"/>
                <a:sym typeface="Fira Sans Medium"/>
              </a:rPr>
              <a:t>[About One Euro Filter Here]</a:t>
            </a:r>
          </a:p>
        </p:txBody>
      </p:sp>
    </p:spTree>
  </p:cSld>
  <p:clrMapOvr>
    <a:masterClrMapping/>
  </p:clrMapOvr>
</p:sld>
</file>

<file path=ppt/slides/slide1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4F4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3821567" y="3707820"/>
            <a:ext cx="2889646" cy="938114"/>
            <a:chOff x="0" y="0"/>
            <a:chExt cx="5895299" cy="191389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5895299" cy="1913890"/>
            </a:xfrm>
            <a:custGeom>
              <a:avLst/>
              <a:gdLst/>
              <a:ahLst/>
              <a:cxnLst/>
              <a:rect r="r" b="b" t="t" l="l"/>
              <a:pathLst>
                <a:path h="1913890" w="5895299">
                  <a:moveTo>
                    <a:pt x="5895299" y="956945"/>
                  </a:moveTo>
                  <a:cubicBezTo>
                    <a:pt x="5895299" y="1485392"/>
                    <a:pt x="5466928" y="1913890"/>
                    <a:pt x="4938354" y="1913890"/>
                  </a:cubicBezTo>
                  <a:lnTo>
                    <a:pt x="956945" y="1913890"/>
                  </a:lnTo>
                  <a:cubicBezTo>
                    <a:pt x="428371" y="1913890"/>
                    <a:pt x="0" y="1485392"/>
                    <a:pt x="0" y="956945"/>
                  </a:cubicBezTo>
                  <a:cubicBezTo>
                    <a:pt x="0" y="428371"/>
                    <a:pt x="428371" y="0"/>
                    <a:pt x="956945" y="0"/>
                  </a:cubicBezTo>
                  <a:lnTo>
                    <a:pt x="4938354" y="0"/>
                  </a:lnTo>
                  <a:cubicBezTo>
                    <a:pt x="5466802" y="0"/>
                    <a:pt x="5895299" y="428371"/>
                    <a:pt x="5895299" y="956945"/>
                  </a:cubicBezTo>
                  <a:close/>
                </a:path>
              </a:pathLst>
            </a:custGeom>
            <a:solidFill>
              <a:srgbClr val="6FD2E1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7607682" y="3707820"/>
            <a:ext cx="2946421" cy="938114"/>
            <a:chOff x="0" y="0"/>
            <a:chExt cx="6011127" cy="191389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6011127" cy="1913890"/>
            </a:xfrm>
            <a:custGeom>
              <a:avLst/>
              <a:gdLst/>
              <a:ahLst/>
              <a:cxnLst/>
              <a:rect r="r" b="b" t="t" l="l"/>
              <a:pathLst>
                <a:path h="1913890" w="6011127">
                  <a:moveTo>
                    <a:pt x="6011127" y="956945"/>
                  </a:moveTo>
                  <a:cubicBezTo>
                    <a:pt x="6011127" y="1485392"/>
                    <a:pt x="5582756" y="1913890"/>
                    <a:pt x="5054182" y="1913890"/>
                  </a:cubicBezTo>
                  <a:lnTo>
                    <a:pt x="956945" y="1913890"/>
                  </a:lnTo>
                  <a:cubicBezTo>
                    <a:pt x="428371" y="1913890"/>
                    <a:pt x="0" y="1485392"/>
                    <a:pt x="0" y="956945"/>
                  </a:cubicBezTo>
                  <a:cubicBezTo>
                    <a:pt x="0" y="428371"/>
                    <a:pt x="428371" y="0"/>
                    <a:pt x="956945" y="0"/>
                  </a:cubicBezTo>
                  <a:lnTo>
                    <a:pt x="5054182" y="0"/>
                  </a:lnTo>
                  <a:cubicBezTo>
                    <a:pt x="5582629" y="0"/>
                    <a:pt x="6011127" y="428371"/>
                    <a:pt x="6011127" y="956945"/>
                  </a:cubicBezTo>
                  <a:close/>
                </a:path>
              </a:pathLst>
            </a:custGeom>
            <a:solidFill>
              <a:srgbClr val="6FD2E1"/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9186243" y="6028228"/>
            <a:ext cx="3699088" cy="938114"/>
            <a:chOff x="0" y="0"/>
            <a:chExt cx="7546678" cy="191389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7546678" cy="1913890"/>
            </a:xfrm>
            <a:custGeom>
              <a:avLst/>
              <a:gdLst/>
              <a:ahLst/>
              <a:cxnLst/>
              <a:rect r="r" b="b" t="t" l="l"/>
              <a:pathLst>
                <a:path h="1913890" w="7546678">
                  <a:moveTo>
                    <a:pt x="7546678" y="956945"/>
                  </a:moveTo>
                  <a:cubicBezTo>
                    <a:pt x="7546678" y="1485392"/>
                    <a:pt x="7118307" y="1913890"/>
                    <a:pt x="6589733" y="1913890"/>
                  </a:cubicBezTo>
                  <a:lnTo>
                    <a:pt x="956945" y="1913890"/>
                  </a:lnTo>
                  <a:cubicBezTo>
                    <a:pt x="428371" y="1913890"/>
                    <a:pt x="0" y="1485392"/>
                    <a:pt x="0" y="956945"/>
                  </a:cubicBezTo>
                  <a:cubicBezTo>
                    <a:pt x="0" y="428371"/>
                    <a:pt x="428371" y="0"/>
                    <a:pt x="956945" y="0"/>
                  </a:cubicBezTo>
                  <a:lnTo>
                    <a:pt x="6589733" y="0"/>
                  </a:lnTo>
                  <a:cubicBezTo>
                    <a:pt x="7118180" y="0"/>
                    <a:pt x="7546678" y="428371"/>
                    <a:pt x="7546678" y="956945"/>
                  </a:cubicBezTo>
                  <a:close/>
                </a:path>
              </a:pathLst>
            </a:custGeom>
            <a:solidFill>
              <a:srgbClr val="6FD2E1"/>
            </a:solidFill>
          </p:spPr>
        </p:sp>
      </p:grpSp>
      <p:grpSp>
        <p:nvGrpSpPr>
          <p:cNvPr name="Group 8" id="8"/>
          <p:cNvGrpSpPr/>
          <p:nvPr/>
        </p:nvGrpSpPr>
        <p:grpSpPr>
          <a:xfrm rot="0">
            <a:off x="11289137" y="3718945"/>
            <a:ext cx="3177296" cy="938114"/>
            <a:chOff x="0" y="0"/>
            <a:chExt cx="6482146" cy="191389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6482146" cy="1913890"/>
            </a:xfrm>
            <a:custGeom>
              <a:avLst/>
              <a:gdLst/>
              <a:ahLst/>
              <a:cxnLst/>
              <a:rect r="r" b="b" t="t" l="l"/>
              <a:pathLst>
                <a:path h="1913890" w="6482146">
                  <a:moveTo>
                    <a:pt x="6482146" y="956945"/>
                  </a:moveTo>
                  <a:cubicBezTo>
                    <a:pt x="6482146" y="1485392"/>
                    <a:pt x="6053775" y="1913890"/>
                    <a:pt x="5525201" y="1913890"/>
                  </a:cubicBezTo>
                  <a:lnTo>
                    <a:pt x="956945" y="1913890"/>
                  </a:lnTo>
                  <a:cubicBezTo>
                    <a:pt x="428371" y="1913890"/>
                    <a:pt x="0" y="1485392"/>
                    <a:pt x="0" y="956945"/>
                  </a:cubicBezTo>
                  <a:cubicBezTo>
                    <a:pt x="0" y="428371"/>
                    <a:pt x="428371" y="0"/>
                    <a:pt x="956945" y="0"/>
                  </a:cubicBezTo>
                  <a:lnTo>
                    <a:pt x="5525201" y="0"/>
                  </a:lnTo>
                  <a:cubicBezTo>
                    <a:pt x="6053648" y="0"/>
                    <a:pt x="6482146" y="428371"/>
                    <a:pt x="6482146" y="956945"/>
                  </a:cubicBezTo>
                  <a:close/>
                </a:path>
              </a:pathLst>
            </a:custGeom>
            <a:solidFill>
              <a:srgbClr val="6FD2E1"/>
            </a:solidFill>
          </p:spPr>
        </p:sp>
      </p:grpSp>
      <p:sp>
        <p:nvSpPr>
          <p:cNvPr name="Freeform 10" id="10"/>
          <p:cNvSpPr/>
          <p:nvPr/>
        </p:nvSpPr>
        <p:spPr>
          <a:xfrm flipH="false" flipV="false" rot="0">
            <a:off x="-3529745" y="-1022055"/>
            <a:ext cx="19846242" cy="1299027"/>
          </a:xfrm>
          <a:custGeom>
            <a:avLst/>
            <a:gdLst/>
            <a:ahLst/>
            <a:cxnLst/>
            <a:rect r="r" b="b" t="t" l="l"/>
            <a:pathLst>
              <a:path h="1299027" w="19846242">
                <a:moveTo>
                  <a:pt x="0" y="0"/>
                </a:moveTo>
                <a:lnTo>
                  <a:pt x="19846242" y="0"/>
                </a:lnTo>
                <a:lnTo>
                  <a:pt x="19846242" y="1299027"/>
                </a:lnTo>
                <a:lnTo>
                  <a:pt x="0" y="129902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1" id="11"/>
          <p:cNvGrpSpPr/>
          <p:nvPr/>
        </p:nvGrpSpPr>
        <p:grpSpPr>
          <a:xfrm rot="0">
            <a:off x="16035716" y="-1022055"/>
            <a:ext cx="3423948" cy="2965155"/>
            <a:chOff x="0" y="0"/>
            <a:chExt cx="3619627" cy="3134614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3619627" cy="3134614"/>
            </a:xfrm>
            <a:custGeom>
              <a:avLst/>
              <a:gdLst/>
              <a:ahLst/>
              <a:cxnLst/>
              <a:rect r="r" b="b" t="t" l="l"/>
              <a:pathLst>
                <a:path h="3134614" w="3619627">
                  <a:moveTo>
                    <a:pt x="3619627" y="1567307"/>
                  </a:moveTo>
                  <a:lnTo>
                    <a:pt x="2714752" y="3134614"/>
                  </a:lnTo>
                  <a:lnTo>
                    <a:pt x="904875" y="3134614"/>
                  </a:lnTo>
                  <a:lnTo>
                    <a:pt x="0" y="1567307"/>
                  </a:lnTo>
                  <a:lnTo>
                    <a:pt x="904875" y="0"/>
                  </a:lnTo>
                  <a:lnTo>
                    <a:pt x="2714625" y="0"/>
                  </a:lnTo>
                  <a:lnTo>
                    <a:pt x="3619627" y="1567307"/>
                  </a:lnTo>
                  <a:close/>
                </a:path>
              </a:pathLst>
            </a:custGeom>
            <a:solidFill>
              <a:srgbClr val="004651"/>
            </a:solidFill>
          </p:spPr>
        </p:sp>
      </p:grpSp>
      <p:grpSp>
        <p:nvGrpSpPr>
          <p:cNvPr name="Group 13" id="13"/>
          <p:cNvGrpSpPr/>
          <p:nvPr/>
        </p:nvGrpSpPr>
        <p:grpSpPr>
          <a:xfrm rot="0">
            <a:off x="15373694" y="-355949"/>
            <a:ext cx="1885606" cy="1632943"/>
            <a:chOff x="0" y="0"/>
            <a:chExt cx="3619627" cy="3134614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3619627" cy="3134614"/>
            </a:xfrm>
            <a:custGeom>
              <a:avLst/>
              <a:gdLst/>
              <a:ahLst/>
              <a:cxnLst/>
              <a:rect r="r" b="b" t="t" l="l"/>
              <a:pathLst>
                <a:path h="3134614" w="3619627">
                  <a:moveTo>
                    <a:pt x="3619627" y="1567307"/>
                  </a:moveTo>
                  <a:lnTo>
                    <a:pt x="2714752" y="3134614"/>
                  </a:lnTo>
                  <a:lnTo>
                    <a:pt x="904875" y="3134614"/>
                  </a:lnTo>
                  <a:lnTo>
                    <a:pt x="0" y="1567307"/>
                  </a:lnTo>
                  <a:lnTo>
                    <a:pt x="904875" y="0"/>
                  </a:lnTo>
                  <a:lnTo>
                    <a:pt x="2714625" y="0"/>
                  </a:lnTo>
                  <a:lnTo>
                    <a:pt x="3619627" y="1567307"/>
                  </a:lnTo>
                  <a:close/>
                </a:path>
              </a:pathLst>
            </a:custGeom>
            <a:solidFill>
              <a:srgbClr val="00A181"/>
            </a:solidFill>
          </p:spPr>
        </p:sp>
      </p:grpSp>
      <p:sp>
        <p:nvSpPr>
          <p:cNvPr name="Freeform 15" id="15"/>
          <p:cNvSpPr/>
          <p:nvPr/>
        </p:nvSpPr>
        <p:spPr>
          <a:xfrm flipH="false" flipV="false" rot="2700000">
            <a:off x="5450606" y="5118374"/>
            <a:ext cx="1087687" cy="440513"/>
          </a:xfrm>
          <a:custGeom>
            <a:avLst/>
            <a:gdLst/>
            <a:ahLst/>
            <a:cxnLst/>
            <a:rect r="r" b="b" t="t" l="l"/>
            <a:pathLst>
              <a:path h="440513" w="1087687">
                <a:moveTo>
                  <a:pt x="0" y="0"/>
                </a:moveTo>
                <a:lnTo>
                  <a:pt x="1087688" y="0"/>
                </a:lnTo>
                <a:lnTo>
                  <a:pt x="1087688" y="440514"/>
                </a:lnTo>
                <a:lnTo>
                  <a:pt x="0" y="440514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6" id="16"/>
          <p:cNvSpPr txBox="true"/>
          <p:nvPr/>
        </p:nvSpPr>
        <p:spPr>
          <a:xfrm rot="0">
            <a:off x="6614434" y="1447800"/>
            <a:ext cx="5059131" cy="6445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199"/>
              </a:lnSpc>
              <a:spcBef>
                <a:spcPct val="0"/>
              </a:spcBef>
            </a:pPr>
            <a:r>
              <a:rPr lang="en-US" sz="3999" spc="-39" u="sng">
                <a:solidFill>
                  <a:srgbClr val="000000"/>
                </a:solidFill>
                <a:latin typeface="Fira Sans Medium"/>
                <a:ea typeface="Fira Sans Medium"/>
                <a:cs typeface="Fira Sans Medium"/>
                <a:sym typeface="Fira Sans Medium"/>
              </a:rPr>
              <a:t>Methodology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4189631" y="3826697"/>
            <a:ext cx="2153519" cy="6845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77"/>
              </a:lnSpc>
            </a:pPr>
            <a:r>
              <a:rPr lang="en-US" sz="1983">
                <a:solidFill>
                  <a:srgbClr val="000000"/>
                </a:solidFill>
                <a:latin typeface="Fira Sans Medium"/>
                <a:ea typeface="Fira Sans Medium"/>
                <a:cs typeface="Fira Sans Medium"/>
                <a:sym typeface="Fira Sans Medium"/>
              </a:rPr>
              <a:t>Apply Filtering Methods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7982977" y="3826697"/>
            <a:ext cx="2195830" cy="6845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77"/>
              </a:lnSpc>
            </a:pPr>
            <a:r>
              <a:rPr lang="en-US" sz="1983">
                <a:solidFill>
                  <a:srgbClr val="000000"/>
                </a:solidFill>
                <a:latin typeface="Fira Sans Medium"/>
                <a:ea typeface="Fira Sans Medium"/>
                <a:cs typeface="Fira Sans Medium"/>
                <a:sym typeface="Fira Sans Medium"/>
              </a:rPr>
              <a:t>Calculate Filtering Evaluation Metrics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9657408" y="6147105"/>
            <a:ext cx="2756758" cy="6845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77"/>
              </a:lnSpc>
            </a:pPr>
            <a:r>
              <a:rPr lang="en-US" sz="1983">
                <a:solidFill>
                  <a:srgbClr val="000000"/>
                </a:solidFill>
                <a:latin typeface="Fira Sans Medium"/>
                <a:ea typeface="Fira Sans Medium"/>
                <a:cs typeface="Fira Sans Medium"/>
                <a:sym typeface="Fira Sans Medium"/>
              </a:rPr>
              <a:t>Qualitative Analysis and Comparison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11693307" y="3826697"/>
            <a:ext cx="2384047" cy="66226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67"/>
              </a:lnSpc>
            </a:pPr>
            <a:r>
              <a:rPr lang="en-US" sz="1905">
                <a:solidFill>
                  <a:srgbClr val="000000"/>
                </a:solidFill>
                <a:latin typeface="Fira Sans Medium"/>
                <a:ea typeface="Fira Sans Medium"/>
                <a:cs typeface="Fira Sans Medium"/>
                <a:sym typeface="Fira Sans Medium"/>
              </a:rPr>
              <a:t>Integrate All into One Pipeline</a:t>
            </a:r>
          </a:p>
        </p:txBody>
      </p:sp>
      <p:sp>
        <p:nvSpPr>
          <p:cNvPr name="Freeform 21" id="21"/>
          <p:cNvSpPr/>
          <p:nvPr/>
        </p:nvSpPr>
        <p:spPr>
          <a:xfrm flipH="false" flipV="false" rot="-3463864">
            <a:off x="7540431" y="5219405"/>
            <a:ext cx="1087687" cy="440513"/>
          </a:xfrm>
          <a:custGeom>
            <a:avLst/>
            <a:gdLst/>
            <a:ahLst/>
            <a:cxnLst/>
            <a:rect r="r" b="b" t="t" l="l"/>
            <a:pathLst>
              <a:path h="440513" w="1087687">
                <a:moveTo>
                  <a:pt x="0" y="0"/>
                </a:moveTo>
                <a:lnTo>
                  <a:pt x="1087688" y="0"/>
                </a:lnTo>
                <a:lnTo>
                  <a:pt x="1087688" y="440513"/>
                </a:lnTo>
                <a:lnTo>
                  <a:pt x="0" y="440513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2" id="22"/>
          <p:cNvSpPr/>
          <p:nvPr/>
        </p:nvSpPr>
        <p:spPr>
          <a:xfrm flipH="false" flipV="false" rot="-3463864">
            <a:off x="11102541" y="5219405"/>
            <a:ext cx="1087687" cy="440513"/>
          </a:xfrm>
          <a:custGeom>
            <a:avLst/>
            <a:gdLst/>
            <a:ahLst/>
            <a:cxnLst/>
            <a:rect r="r" b="b" t="t" l="l"/>
            <a:pathLst>
              <a:path h="440513" w="1087687">
                <a:moveTo>
                  <a:pt x="0" y="0"/>
                </a:moveTo>
                <a:lnTo>
                  <a:pt x="1087687" y="0"/>
                </a:lnTo>
                <a:lnTo>
                  <a:pt x="1087687" y="440513"/>
                </a:lnTo>
                <a:lnTo>
                  <a:pt x="0" y="440513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3" id="23"/>
          <p:cNvSpPr/>
          <p:nvPr/>
        </p:nvSpPr>
        <p:spPr>
          <a:xfrm flipH="false" flipV="false" rot="2700000">
            <a:off x="9469959" y="5182264"/>
            <a:ext cx="1087687" cy="440513"/>
          </a:xfrm>
          <a:custGeom>
            <a:avLst/>
            <a:gdLst/>
            <a:ahLst/>
            <a:cxnLst/>
            <a:rect r="r" b="b" t="t" l="l"/>
            <a:pathLst>
              <a:path h="440513" w="1087687">
                <a:moveTo>
                  <a:pt x="0" y="0"/>
                </a:moveTo>
                <a:lnTo>
                  <a:pt x="1087687" y="0"/>
                </a:lnTo>
                <a:lnTo>
                  <a:pt x="1087687" y="440513"/>
                </a:lnTo>
                <a:lnTo>
                  <a:pt x="0" y="440513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24" id="24"/>
          <p:cNvGrpSpPr/>
          <p:nvPr/>
        </p:nvGrpSpPr>
        <p:grpSpPr>
          <a:xfrm rot="0">
            <a:off x="5748544" y="6028228"/>
            <a:ext cx="2490049" cy="938114"/>
            <a:chOff x="0" y="0"/>
            <a:chExt cx="5080062" cy="1913890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5080062" cy="1913890"/>
            </a:xfrm>
            <a:custGeom>
              <a:avLst/>
              <a:gdLst/>
              <a:ahLst/>
              <a:cxnLst/>
              <a:rect r="r" b="b" t="t" l="l"/>
              <a:pathLst>
                <a:path h="1913890" w="5080062">
                  <a:moveTo>
                    <a:pt x="5080062" y="956945"/>
                  </a:moveTo>
                  <a:cubicBezTo>
                    <a:pt x="5080062" y="1485392"/>
                    <a:pt x="4651690" y="1913890"/>
                    <a:pt x="4123117" y="1913890"/>
                  </a:cubicBezTo>
                  <a:lnTo>
                    <a:pt x="956945" y="1913890"/>
                  </a:lnTo>
                  <a:cubicBezTo>
                    <a:pt x="428371" y="1913890"/>
                    <a:pt x="0" y="1485392"/>
                    <a:pt x="0" y="956945"/>
                  </a:cubicBezTo>
                  <a:cubicBezTo>
                    <a:pt x="0" y="428371"/>
                    <a:pt x="428371" y="0"/>
                    <a:pt x="956945" y="0"/>
                  </a:cubicBezTo>
                  <a:lnTo>
                    <a:pt x="4123117" y="0"/>
                  </a:lnTo>
                  <a:cubicBezTo>
                    <a:pt x="4651564" y="0"/>
                    <a:pt x="5080062" y="428371"/>
                    <a:pt x="5080062" y="956945"/>
                  </a:cubicBezTo>
                  <a:close/>
                </a:path>
              </a:pathLst>
            </a:custGeom>
            <a:solidFill>
              <a:srgbClr val="A4E473"/>
            </a:solidFill>
          </p:spPr>
        </p:sp>
      </p:grpSp>
      <p:sp>
        <p:nvSpPr>
          <p:cNvPr name="TextBox 26" id="26"/>
          <p:cNvSpPr txBox="true"/>
          <p:nvPr/>
        </p:nvSpPr>
        <p:spPr>
          <a:xfrm rot="0">
            <a:off x="6065710" y="6147105"/>
            <a:ext cx="1855717" cy="6845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77"/>
              </a:lnSpc>
            </a:pPr>
            <a:r>
              <a:rPr lang="en-US" sz="1983">
                <a:solidFill>
                  <a:srgbClr val="000000"/>
                </a:solidFill>
                <a:latin typeface="Fira Sans Medium"/>
                <a:ea typeface="Fira Sans Medium"/>
                <a:cs typeface="Fira Sans Medium"/>
                <a:sym typeface="Fira Sans Medium"/>
              </a:rPr>
              <a:t>Visualize Results</a:t>
            </a:r>
          </a:p>
        </p:txBody>
      </p:sp>
      <p:sp>
        <p:nvSpPr>
          <p:cNvPr name="Freeform 27" id="27"/>
          <p:cNvSpPr/>
          <p:nvPr/>
        </p:nvSpPr>
        <p:spPr>
          <a:xfrm flipH="false" flipV="false" rot="0">
            <a:off x="895169" y="3776715"/>
            <a:ext cx="2031048" cy="822574"/>
          </a:xfrm>
          <a:custGeom>
            <a:avLst/>
            <a:gdLst/>
            <a:ahLst/>
            <a:cxnLst/>
            <a:rect r="r" b="b" t="t" l="l"/>
            <a:pathLst>
              <a:path h="822574" w="2031048">
                <a:moveTo>
                  <a:pt x="0" y="0"/>
                </a:moveTo>
                <a:lnTo>
                  <a:pt x="2031048" y="0"/>
                </a:lnTo>
                <a:lnTo>
                  <a:pt x="2031048" y="822575"/>
                </a:lnTo>
                <a:lnTo>
                  <a:pt x="0" y="822575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1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4F4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3821567" y="3707820"/>
            <a:ext cx="2889646" cy="938114"/>
            <a:chOff x="0" y="0"/>
            <a:chExt cx="5895299" cy="191389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5895299" cy="1913890"/>
            </a:xfrm>
            <a:custGeom>
              <a:avLst/>
              <a:gdLst/>
              <a:ahLst/>
              <a:cxnLst/>
              <a:rect r="r" b="b" t="t" l="l"/>
              <a:pathLst>
                <a:path h="1913890" w="5895299">
                  <a:moveTo>
                    <a:pt x="5895299" y="956945"/>
                  </a:moveTo>
                  <a:cubicBezTo>
                    <a:pt x="5895299" y="1485392"/>
                    <a:pt x="5466928" y="1913890"/>
                    <a:pt x="4938354" y="1913890"/>
                  </a:cubicBezTo>
                  <a:lnTo>
                    <a:pt x="956945" y="1913890"/>
                  </a:lnTo>
                  <a:cubicBezTo>
                    <a:pt x="428371" y="1913890"/>
                    <a:pt x="0" y="1485392"/>
                    <a:pt x="0" y="956945"/>
                  </a:cubicBezTo>
                  <a:cubicBezTo>
                    <a:pt x="0" y="428371"/>
                    <a:pt x="428371" y="0"/>
                    <a:pt x="956945" y="0"/>
                  </a:cubicBezTo>
                  <a:lnTo>
                    <a:pt x="4938354" y="0"/>
                  </a:lnTo>
                  <a:cubicBezTo>
                    <a:pt x="5466802" y="0"/>
                    <a:pt x="5895299" y="428371"/>
                    <a:pt x="5895299" y="956945"/>
                  </a:cubicBezTo>
                  <a:close/>
                </a:path>
              </a:pathLst>
            </a:custGeom>
            <a:solidFill>
              <a:srgbClr val="6FD2E1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7607682" y="3707820"/>
            <a:ext cx="2946421" cy="938114"/>
            <a:chOff x="0" y="0"/>
            <a:chExt cx="6011127" cy="191389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6011127" cy="1913890"/>
            </a:xfrm>
            <a:custGeom>
              <a:avLst/>
              <a:gdLst/>
              <a:ahLst/>
              <a:cxnLst/>
              <a:rect r="r" b="b" t="t" l="l"/>
              <a:pathLst>
                <a:path h="1913890" w="6011127">
                  <a:moveTo>
                    <a:pt x="6011127" y="956945"/>
                  </a:moveTo>
                  <a:cubicBezTo>
                    <a:pt x="6011127" y="1485392"/>
                    <a:pt x="5582756" y="1913890"/>
                    <a:pt x="5054182" y="1913890"/>
                  </a:cubicBezTo>
                  <a:lnTo>
                    <a:pt x="956945" y="1913890"/>
                  </a:lnTo>
                  <a:cubicBezTo>
                    <a:pt x="428371" y="1913890"/>
                    <a:pt x="0" y="1485392"/>
                    <a:pt x="0" y="956945"/>
                  </a:cubicBezTo>
                  <a:cubicBezTo>
                    <a:pt x="0" y="428371"/>
                    <a:pt x="428371" y="0"/>
                    <a:pt x="956945" y="0"/>
                  </a:cubicBezTo>
                  <a:lnTo>
                    <a:pt x="5054182" y="0"/>
                  </a:lnTo>
                  <a:cubicBezTo>
                    <a:pt x="5582629" y="0"/>
                    <a:pt x="6011127" y="428371"/>
                    <a:pt x="6011127" y="956945"/>
                  </a:cubicBezTo>
                  <a:close/>
                </a:path>
              </a:pathLst>
            </a:custGeom>
            <a:solidFill>
              <a:srgbClr val="A4E473"/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9186243" y="6028228"/>
            <a:ext cx="3699088" cy="938114"/>
            <a:chOff x="0" y="0"/>
            <a:chExt cx="7546678" cy="191389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7546678" cy="1913890"/>
            </a:xfrm>
            <a:custGeom>
              <a:avLst/>
              <a:gdLst/>
              <a:ahLst/>
              <a:cxnLst/>
              <a:rect r="r" b="b" t="t" l="l"/>
              <a:pathLst>
                <a:path h="1913890" w="7546678">
                  <a:moveTo>
                    <a:pt x="7546678" y="956945"/>
                  </a:moveTo>
                  <a:cubicBezTo>
                    <a:pt x="7546678" y="1485392"/>
                    <a:pt x="7118307" y="1913890"/>
                    <a:pt x="6589733" y="1913890"/>
                  </a:cubicBezTo>
                  <a:lnTo>
                    <a:pt x="956945" y="1913890"/>
                  </a:lnTo>
                  <a:cubicBezTo>
                    <a:pt x="428371" y="1913890"/>
                    <a:pt x="0" y="1485392"/>
                    <a:pt x="0" y="956945"/>
                  </a:cubicBezTo>
                  <a:cubicBezTo>
                    <a:pt x="0" y="428371"/>
                    <a:pt x="428371" y="0"/>
                    <a:pt x="956945" y="0"/>
                  </a:cubicBezTo>
                  <a:lnTo>
                    <a:pt x="6589733" y="0"/>
                  </a:lnTo>
                  <a:cubicBezTo>
                    <a:pt x="7118180" y="0"/>
                    <a:pt x="7546678" y="428371"/>
                    <a:pt x="7546678" y="956945"/>
                  </a:cubicBezTo>
                  <a:close/>
                </a:path>
              </a:pathLst>
            </a:custGeom>
            <a:solidFill>
              <a:srgbClr val="6FD2E1"/>
            </a:solidFill>
          </p:spPr>
        </p:sp>
      </p:grpSp>
      <p:grpSp>
        <p:nvGrpSpPr>
          <p:cNvPr name="Group 8" id="8"/>
          <p:cNvGrpSpPr/>
          <p:nvPr/>
        </p:nvGrpSpPr>
        <p:grpSpPr>
          <a:xfrm rot="0">
            <a:off x="11289137" y="3718945"/>
            <a:ext cx="3177296" cy="938114"/>
            <a:chOff x="0" y="0"/>
            <a:chExt cx="6482146" cy="191389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6482146" cy="1913890"/>
            </a:xfrm>
            <a:custGeom>
              <a:avLst/>
              <a:gdLst/>
              <a:ahLst/>
              <a:cxnLst/>
              <a:rect r="r" b="b" t="t" l="l"/>
              <a:pathLst>
                <a:path h="1913890" w="6482146">
                  <a:moveTo>
                    <a:pt x="6482146" y="956945"/>
                  </a:moveTo>
                  <a:cubicBezTo>
                    <a:pt x="6482146" y="1485392"/>
                    <a:pt x="6053775" y="1913890"/>
                    <a:pt x="5525201" y="1913890"/>
                  </a:cubicBezTo>
                  <a:lnTo>
                    <a:pt x="956945" y="1913890"/>
                  </a:lnTo>
                  <a:cubicBezTo>
                    <a:pt x="428371" y="1913890"/>
                    <a:pt x="0" y="1485392"/>
                    <a:pt x="0" y="956945"/>
                  </a:cubicBezTo>
                  <a:cubicBezTo>
                    <a:pt x="0" y="428371"/>
                    <a:pt x="428371" y="0"/>
                    <a:pt x="956945" y="0"/>
                  </a:cubicBezTo>
                  <a:lnTo>
                    <a:pt x="5525201" y="0"/>
                  </a:lnTo>
                  <a:cubicBezTo>
                    <a:pt x="6053648" y="0"/>
                    <a:pt x="6482146" y="428371"/>
                    <a:pt x="6482146" y="956945"/>
                  </a:cubicBezTo>
                  <a:close/>
                </a:path>
              </a:pathLst>
            </a:custGeom>
            <a:solidFill>
              <a:srgbClr val="6FD2E1"/>
            </a:solidFill>
          </p:spPr>
        </p:sp>
      </p:grpSp>
      <p:sp>
        <p:nvSpPr>
          <p:cNvPr name="Freeform 10" id="10"/>
          <p:cNvSpPr/>
          <p:nvPr/>
        </p:nvSpPr>
        <p:spPr>
          <a:xfrm flipH="false" flipV="false" rot="0">
            <a:off x="-3529745" y="-1022055"/>
            <a:ext cx="19846242" cy="1299027"/>
          </a:xfrm>
          <a:custGeom>
            <a:avLst/>
            <a:gdLst/>
            <a:ahLst/>
            <a:cxnLst/>
            <a:rect r="r" b="b" t="t" l="l"/>
            <a:pathLst>
              <a:path h="1299027" w="19846242">
                <a:moveTo>
                  <a:pt x="0" y="0"/>
                </a:moveTo>
                <a:lnTo>
                  <a:pt x="19846242" y="0"/>
                </a:lnTo>
                <a:lnTo>
                  <a:pt x="19846242" y="1299027"/>
                </a:lnTo>
                <a:lnTo>
                  <a:pt x="0" y="129902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1" id="11"/>
          <p:cNvGrpSpPr/>
          <p:nvPr/>
        </p:nvGrpSpPr>
        <p:grpSpPr>
          <a:xfrm rot="0">
            <a:off x="16035716" y="-1022055"/>
            <a:ext cx="3423948" cy="2965155"/>
            <a:chOff x="0" y="0"/>
            <a:chExt cx="3619627" cy="3134614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3619627" cy="3134614"/>
            </a:xfrm>
            <a:custGeom>
              <a:avLst/>
              <a:gdLst/>
              <a:ahLst/>
              <a:cxnLst/>
              <a:rect r="r" b="b" t="t" l="l"/>
              <a:pathLst>
                <a:path h="3134614" w="3619627">
                  <a:moveTo>
                    <a:pt x="3619627" y="1567307"/>
                  </a:moveTo>
                  <a:lnTo>
                    <a:pt x="2714752" y="3134614"/>
                  </a:lnTo>
                  <a:lnTo>
                    <a:pt x="904875" y="3134614"/>
                  </a:lnTo>
                  <a:lnTo>
                    <a:pt x="0" y="1567307"/>
                  </a:lnTo>
                  <a:lnTo>
                    <a:pt x="904875" y="0"/>
                  </a:lnTo>
                  <a:lnTo>
                    <a:pt x="2714625" y="0"/>
                  </a:lnTo>
                  <a:lnTo>
                    <a:pt x="3619627" y="1567307"/>
                  </a:lnTo>
                  <a:close/>
                </a:path>
              </a:pathLst>
            </a:custGeom>
            <a:solidFill>
              <a:srgbClr val="004651"/>
            </a:solidFill>
          </p:spPr>
        </p:sp>
      </p:grpSp>
      <p:grpSp>
        <p:nvGrpSpPr>
          <p:cNvPr name="Group 13" id="13"/>
          <p:cNvGrpSpPr/>
          <p:nvPr/>
        </p:nvGrpSpPr>
        <p:grpSpPr>
          <a:xfrm rot="0">
            <a:off x="15373694" y="-355949"/>
            <a:ext cx="1885606" cy="1632943"/>
            <a:chOff x="0" y="0"/>
            <a:chExt cx="3619627" cy="3134614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3619627" cy="3134614"/>
            </a:xfrm>
            <a:custGeom>
              <a:avLst/>
              <a:gdLst/>
              <a:ahLst/>
              <a:cxnLst/>
              <a:rect r="r" b="b" t="t" l="l"/>
              <a:pathLst>
                <a:path h="3134614" w="3619627">
                  <a:moveTo>
                    <a:pt x="3619627" y="1567307"/>
                  </a:moveTo>
                  <a:lnTo>
                    <a:pt x="2714752" y="3134614"/>
                  </a:lnTo>
                  <a:lnTo>
                    <a:pt x="904875" y="3134614"/>
                  </a:lnTo>
                  <a:lnTo>
                    <a:pt x="0" y="1567307"/>
                  </a:lnTo>
                  <a:lnTo>
                    <a:pt x="904875" y="0"/>
                  </a:lnTo>
                  <a:lnTo>
                    <a:pt x="2714625" y="0"/>
                  </a:lnTo>
                  <a:lnTo>
                    <a:pt x="3619627" y="1567307"/>
                  </a:lnTo>
                  <a:close/>
                </a:path>
              </a:pathLst>
            </a:custGeom>
            <a:solidFill>
              <a:srgbClr val="00A181"/>
            </a:solidFill>
          </p:spPr>
        </p:sp>
      </p:grpSp>
      <p:sp>
        <p:nvSpPr>
          <p:cNvPr name="Freeform 15" id="15"/>
          <p:cNvSpPr/>
          <p:nvPr/>
        </p:nvSpPr>
        <p:spPr>
          <a:xfrm flipH="false" flipV="false" rot="2700000">
            <a:off x="5450606" y="5118374"/>
            <a:ext cx="1087687" cy="440513"/>
          </a:xfrm>
          <a:custGeom>
            <a:avLst/>
            <a:gdLst/>
            <a:ahLst/>
            <a:cxnLst/>
            <a:rect r="r" b="b" t="t" l="l"/>
            <a:pathLst>
              <a:path h="440513" w="1087687">
                <a:moveTo>
                  <a:pt x="0" y="0"/>
                </a:moveTo>
                <a:lnTo>
                  <a:pt x="1087688" y="0"/>
                </a:lnTo>
                <a:lnTo>
                  <a:pt x="1087688" y="440514"/>
                </a:lnTo>
                <a:lnTo>
                  <a:pt x="0" y="440514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6" id="16"/>
          <p:cNvSpPr txBox="true"/>
          <p:nvPr/>
        </p:nvSpPr>
        <p:spPr>
          <a:xfrm rot="0">
            <a:off x="6614434" y="1447800"/>
            <a:ext cx="5059131" cy="6445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199"/>
              </a:lnSpc>
              <a:spcBef>
                <a:spcPct val="0"/>
              </a:spcBef>
            </a:pPr>
            <a:r>
              <a:rPr lang="en-US" sz="3999" spc="-39" u="sng">
                <a:solidFill>
                  <a:srgbClr val="000000"/>
                </a:solidFill>
                <a:latin typeface="Fira Sans Medium"/>
                <a:ea typeface="Fira Sans Medium"/>
                <a:cs typeface="Fira Sans Medium"/>
                <a:sym typeface="Fira Sans Medium"/>
              </a:rPr>
              <a:t>Methodology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4189631" y="3826697"/>
            <a:ext cx="2153519" cy="6845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77"/>
              </a:lnSpc>
            </a:pPr>
            <a:r>
              <a:rPr lang="en-US" sz="1983">
                <a:solidFill>
                  <a:srgbClr val="000000"/>
                </a:solidFill>
                <a:latin typeface="Fira Sans Medium"/>
                <a:ea typeface="Fira Sans Medium"/>
                <a:cs typeface="Fira Sans Medium"/>
                <a:sym typeface="Fira Sans Medium"/>
              </a:rPr>
              <a:t>Apply Filtering Methods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7982977" y="3826697"/>
            <a:ext cx="2195830" cy="6845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77"/>
              </a:lnSpc>
            </a:pPr>
            <a:r>
              <a:rPr lang="en-US" sz="1983">
                <a:solidFill>
                  <a:srgbClr val="000000"/>
                </a:solidFill>
                <a:latin typeface="Fira Sans Medium"/>
                <a:ea typeface="Fira Sans Medium"/>
                <a:cs typeface="Fira Sans Medium"/>
                <a:sym typeface="Fira Sans Medium"/>
              </a:rPr>
              <a:t>Calculate Filtering Evaluation Metrics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9657408" y="6147105"/>
            <a:ext cx="2756758" cy="6845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77"/>
              </a:lnSpc>
            </a:pPr>
            <a:r>
              <a:rPr lang="en-US" sz="1983">
                <a:solidFill>
                  <a:srgbClr val="000000"/>
                </a:solidFill>
                <a:latin typeface="Fira Sans Medium"/>
                <a:ea typeface="Fira Sans Medium"/>
                <a:cs typeface="Fira Sans Medium"/>
                <a:sym typeface="Fira Sans Medium"/>
              </a:rPr>
              <a:t>Qualitative Analysis and Comparison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11693307" y="3826697"/>
            <a:ext cx="2384047" cy="66226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67"/>
              </a:lnSpc>
            </a:pPr>
            <a:r>
              <a:rPr lang="en-US" sz="1905">
                <a:solidFill>
                  <a:srgbClr val="000000"/>
                </a:solidFill>
                <a:latin typeface="Fira Sans Medium"/>
                <a:ea typeface="Fira Sans Medium"/>
                <a:cs typeface="Fira Sans Medium"/>
                <a:sym typeface="Fira Sans Medium"/>
              </a:rPr>
              <a:t>Integrate All into One Pipeline</a:t>
            </a:r>
          </a:p>
        </p:txBody>
      </p:sp>
      <p:sp>
        <p:nvSpPr>
          <p:cNvPr name="Freeform 21" id="21"/>
          <p:cNvSpPr/>
          <p:nvPr/>
        </p:nvSpPr>
        <p:spPr>
          <a:xfrm flipH="false" flipV="false" rot="-3463864">
            <a:off x="7540431" y="5219405"/>
            <a:ext cx="1087687" cy="440513"/>
          </a:xfrm>
          <a:custGeom>
            <a:avLst/>
            <a:gdLst/>
            <a:ahLst/>
            <a:cxnLst/>
            <a:rect r="r" b="b" t="t" l="l"/>
            <a:pathLst>
              <a:path h="440513" w="1087687">
                <a:moveTo>
                  <a:pt x="0" y="0"/>
                </a:moveTo>
                <a:lnTo>
                  <a:pt x="1087688" y="0"/>
                </a:lnTo>
                <a:lnTo>
                  <a:pt x="1087688" y="440513"/>
                </a:lnTo>
                <a:lnTo>
                  <a:pt x="0" y="440513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2" id="22"/>
          <p:cNvSpPr/>
          <p:nvPr/>
        </p:nvSpPr>
        <p:spPr>
          <a:xfrm flipH="false" flipV="false" rot="-3463864">
            <a:off x="11102541" y="5219405"/>
            <a:ext cx="1087687" cy="440513"/>
          </a:xfrm>
          <a:custGeom>
            <a:avLst/>
            <a:gdLst/>
            <a:ahLst/>
            <a:cxnLst/>
            <a:rect r="r" b="b" t="t" l="l"/>
            <a:pathLst>
              <a:path h="440513" w="1087687">
                <a:moveTo>
                  <a:pt x="0" y="0"/>
                </a:moveTo>
                <a:lnTo>
                  <a:pt x="1087687" y="0"/>
                </a:lnTo>
                <a:lnTo>
                  <a:pt x="1087687" y="440513"/>
                </a:lnTo>
                <a:lnTo>
                  <a:pt x="0" y="440513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3" id="23"/>
          <p:cNvSpPr/>
          <p:nvPr/>
        </p:nvSpPr>
        <p:spPr>
          <a:xfrm flipH="false" flipV="false" rot="2700000">
            <a:off x="9469959" y="5182264"/>
            <a:ext cx="1087687" cy="440513"/>
          </a:xfrm>
          <a:custGeom>
            <a:avLst/>
            <a:gdLst/>
            <a:ahLst/>
            <a:cxnLst/>
            <a:rect r="r" b="b" t="t" l="l"/>
            <a:pathLst>
              <a:path h="440513" w="1087687">
                <a:moveTo>
                  <a:pt x="0" y="0"/>
                </a:moveTo>
                <a:lnTo>
                  <a:pt x="1087687" y="0"/>
                </a:lnTo>
                <a:lnTo>
                  <a:pt x="1087687" y="440513"/>
                </a:lnTo>
                <a:lnTo>
                  <a:pt x="0" y="440513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24" id="24"/>
          <p:cNvGrpSpPr/>
          <p:nvPr/>
        </p:nvGrpSpPr>
        <p:grpSpPr>
          <a:xfrm rot="0">
            <a:off x="5748544" y="6028228"/>
            <a:ext cx="2490049" cy="938114"/>
            <a:chOff x="0" y="0"/>
            <a:chExt cx="5080062" cy="1913890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5080062" cy="1913890"/>
            </a:xfrm>
            <a:custGeom>
              <a:avLst/>
              <a:gdLst/>
              <a:ahLst/>
              <a:cxnLst/>
              <a:rect r="r" b="b" t="t" l="l"/>
              <a:pathLst>
                <a:path h="1913890" w="5080062">
                  <a:moveTo>
                    <a:pt x="5080062" y="956945"/>
                  </a:moveTo>
                  <a:cubicBezTo>
                    <a:pt x="5080062" y="1485392"/>
                    <a:pt x="4651690" y="1913890"/>
                    <a:pt x="4123117" y="1913890"/>
                  </a:cubicBezTo>
                  <a:lnTo>
                    <a:pt x="956945" y="1913890"/>
                  </a:lnTo>
                  <a:cubicBezTo>
                    <a:pt x="428371" y="1913890"/>
                    <a:pt x="0" y="1485392"/>
                    <a:pt x="0" y="956945"/>
                  </a:cubicBezTo>
                  <a:cubicBezTo>
                    <a:pt x="0" y="428371"/>
                    <a:pt x="428371" y="0"/>
                    <a:pt x="956945" y="0"/>
                  </a:cubicBezTo>
                  <a:lnTo>
                    <a:pt x="4123117" y="0"/>
                  </a:lnTo>
                  <a:cubicBezTo>
                    <a:pt x="4651564" y="0"/>
                    <a:pt x="5080062" y="428371"/>
                    <a:pt x="5080062" y="956945"/>
                  </a:cubicBezTo>
                  <a:close/>
                </a:path>
              </a:pathLst>
            </a:custGeom>
            <a:solidFill>
              <a:srgbClr val="6FD2E1"/>
            </a:solidFill>
          </p:spPr>
        </p:sp>
      </p:grpSp>
      <p:sp>
        <p:nvSpPr>
          <p:cNvPr name="TextBox 26" id="26"/>
          <p:cNvSpPr txBox="true"/>
          <p:nvPr/>
        </p:nvSpPr>
        <p:spPr>
          <a:xfrm rot="0">
            <a:off x="6065710" y="6147105"/>
            <a:ext cx="1855717" cy="6845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77"/>
              </a:lnSpc>
            </a:pPr>
            <a:r>
              <a:rPr lang="en-US" sz="1983">
                <a:solidFill>
                  <a:srgbClr val="000000"/>
                </a:solidFill>
                <a:latin typeface="Fira Sans Medium"/>
                <a:ea typeface="Fira Sans Medium"/>
                <a:cs typeface="Fira Sans Medium"/>
                <a:sym typeface="Fira Sans Medium"/>
              </a:rPr>
              <a:t>Visualize Results</a:t>
            </a:r>
          </a:p>
        </p:txBody>
      </p:sp>
      <p:sp>
        <p:nvSpPr>
          <p:cNvPr name="Freeform 27" id="27"/>
          <p:cNvSpPr/>
          <p:nvPr/>
        </p:nvSpPr>
        <p:spPr>
          <a:xfrm flipH="false" flipV="false" rot="0">
            <a:off x="895169" y="3776715"/>
            <a:ext cx="2031048" cy="822574"/>
          </a:xfrm>
          <a:custGeom>
            <a:avLst/>
            <a:gdLst/>
            <a:ahLst/>
            <a:cxnLst/>
            <a:rect r="r" b="b" t="t" l="l"/>
            <a:pathLst>
              <a:path h="822574" w="2031048">
                <a:moveTo>
                  <a:pt x="0" y="0"/>
                </a:moveTo>
                <a:lnTo>
                  <a:pt x="2031048" y="0"/>
                </a:lnTo>
                <a:lnTo>
                  <a:pt x="2031048" y="822575"/>
                </a:lnTo>
                <a:lnTo>
                  <a:pt x="0" y="822575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1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4F4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3529745" y="-1022055"/>
            <a:ext cx="19846242" cy="1299027"/>
          </a:xfrm>
          <a:custGeom>
            <a:avLst/>
            <a:gdLst/>
            <a:ahLst/>
            <a:cxnLst/>
            <a:rect r="r" b="b" t="t" l="l"/>
            <a:pathLst>
              <a:path h="1299027" w="19846242">
                <a:moveTo>
                  <a:pt x="0" y="0"/>
                </a:moveTo>
                <a:lnTo>
                  <a:pt x="19846242" y="0"/>
                </a:lnTo>
                <a:lnTo>
                  <a:pt x="19846242" y="1299027"/>
                </a:lnTo>
                <a:lnTo>
                  <a:pt x="0" y="129902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16035716" y="-1022055"/>
            <a:ext cx="3423948" cy="2965155"/>
            <a:chOff x="0" y="0"/>
            <a:chExt cx="3619627" cy="3134614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3619627" cy="3134614"/>
            </a:xfrm>
            <a:custGeom>
              <a:avLst/>
              <a:gdLst/>
              <a:ahLst/>
              <a:cxnLst/>
              <a:rect r="r" b="b" t="t" l="l"/>
              <a:pathLst>
                <a:path h="3134614" w="3619627">
                  <a:moveTo>
                    <a:pt x="3619627" y="1567307"/>
                  </a:moveTo>
                  <a:lnTo>
                    <a:pt x="2714752" y="3134614"/>
                  </a:lnTo>
                  <a:lnTo>
                    <a:pt x="904875" y="3134614"/>
                  </a:lnTo>
                  <a:lnTo>
                    <a:pt x="0" y="1567307"/>
                  </a:lnTo>
                  <a:lnTo>
                    <a:pt x="904875" y="0"/>
                  </a:lnTo>
                  <a:lnTo>
                    <a:pt x="2714625" y="0"/>
                  </a:lnTo>
                  <a:lnTo>
                    <a:pt x="3619627" y="1567307"/>
                  </a:lnTo>
                  <a:close/>
                </a:path>
              </a:pathLst>
            </a:custGeom>
            <a:solidFill>
              <a:srgbClr val="004651"/>
            </a:solidFill>
          </p:spPr>
        </p:sp>
      </p:grpSp>
      <p:grpSp>
        <p:nvGrpSpPr>
          <p:cNvPr name="Group 5" id="5"/>
          <p:cNvGrpSpPr/>
          <p:nvPr/>
        </p:nvGrpSpPr>
        <p:grpSpPr>
          <a:xfrm rot="0">
            <a:off x="15373694" y="-355949"/>
            <a:ext cx="1885606" cy="1632943"/>
            <a:chOff x="0" y="0"/>
            <a:chExt cx="3619627" cy="3134614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3619627" cy="3134614"/>
            </a:xfrm>
            <a:custGeom>
              <a:avLst/>
              <a:gdLst/>
              <a:ahLst/>
              <a:cxnLst/>
              <a:rect r="r" b="b" t="t" l="l"/>
              <a:pathLst>
                <a:path h="3134614" w="3619627">
                  <a:moveTo>
                    <a:pt x="3619627" y="1567307"/>
                  </a:moveTo>
                  <a:lnTo>
                    <a:pt x="2714752" y="3134614"/>
                  </a:lnTo>
                  <a:lnTo>
                    <a:pt x="904875" y="3134614"/>
                  </a:lnTo>
                  <a:lnTo>
                    <a:pt x="0" y="1567307"/>
                  </a:lnTo>
                  <a:lnTo>
                    <a:pt x="904875" y="0"/>
                  </a:lnTo>
                  <a:lnTo>
                    <a:pt x="2714625" y="0"/>
                  </a:lnTo>
                  <a:lnTo>
                    <a:pt x="3619627" y="1567307"/>
                  </a:lnTo>
                  <a:close/>
                </a:path>
              </a:pathLst>
            </a:custGeom>
            <a:solidFill>
              <a:srgbClr val="00A181"/>
            </a:solidFill>
          </p:spPr>
        </p:sp>
      </p:grpSp>
      <p:sp>
        <p:nvSpPr>
          <p:cNvPr name="TextBox 7" id="7"/>
          <p:cNvSpPr txBox="true"/>
          <p:nvPr/>
        </p:nvSpPr>
        <p:spPr>
          <a:xfrm rot="0">
            <a:off x="3307217" y="1499030"/>
            <a:ext cx="11673566" cy="13017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199"/>
              </a:lnSpc>
              <a:spcBef>
                <a:spcPct val="0"/>
              </a:spcBef>
            </a:pPr>
            <a:r>
              <a:rPr lang="en-US" sz="3999" spc="-39" u="sng">
                <a:solidFill>
                  <a:srgbClr val="000000"/>
                </a:solidFill>
                <a:latin typeface="Fira Sans Medium"/>
                <a:ea typeface="Fira Sans Medium"/>
                <a:cs typeface="Fira Sans Medium"/>
                <a:sym typeface="Fira Sans Medium"/>
              </a:rPr>
              <a:t>Methodology - Movement Dynamics Clutter Spectrum Strength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6171713" y="3617829"/>
            <a:ext cx="5944574" cy="6845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77"/>
              </a:lnSpc>
            </a:pPr>
            <a:r>
              <a:rPr lang="en-US" sz="1983">
                <a:solidFill>
                  <a:srgbClr val="000000"/>
                </a:solidFill>
                <a:latin typeface="Fira Sans Medium"/>
                <a:ea typeface="Fira Sans Medium"/>
                <a:cs typeface="Fira Sans Medium"/>
                <a:sym typeface="Fira Sans Medium"/>
              </a:rPr>
              <a:t>[About MDCSS Here -  detect jitter by measuring the consistency of velocity direction]</a:t>
            </a:r>
          </a:p>
        </p:txBody>
      </p:sp>
    </p:spTree>
  </p:cSld>
  <p:clrMapOvr>
    <a:masterClrMapping/>
  </p:clrMapOvr>
</p:sld>
</file>

<file path=ppt/slides/slide1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4F4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3821567" y="3707820"/>
            <a:ext cx="2889646" cy="938114"/>
            <a:chOff x="0" y="0"/>
            <a:chExt cx="5895299" cy="191389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5895299" cy="1913890"/>
            </a:xfrm>
            <a:custGeom>
              <a:avLst/>
              <a:gdLst/>
              <a:ahLst/>
              <a:cxnLst/>
              <a:rect r="r" b="b" t="t" l="l"/>
              <a:pathLst>
                <a:path h="1913890" w="5895299">
                  <a:moveTo>
                    <a:pt x="5895299" y="956945"/>
                  </a:moveTo>
                  <a:cubicBezTo>
                    <a:pt x="5895299" y="1485392"/>
                    <a:pt x="5466928" y="1913890"/>
                    <a:pt x="4938354" y="1913890"/>
                  </a:cubicBezTo>
                  <a:lnTo>
                    <a:pt x="956945" y="1913890"/>
                  </a:lnTo>
                  <a:cubicBezTo>
                    <a:pt x="428371" y="1913890"/>
                    <a:pt x="0" y="1485392"/>
                    <a:pt x="0" y="956945"/>
                  </a:cubicBezTo>
                  <a:cubicBezTo>
                    <a:pt x="0" y="428371"/>
                    <a:pt x="428371" y="0"/>
                    <a:pt x="956945" y="0"/>
                  </a:cubicBezTo>
                  <a:lnTo>
                    <a:pt x="4938354" y="0"/>
                  </a:lnTo>
                  <a:cubicBezTo>
                    <a:pt x="5466802" y="0"/>
                    <a:pt x="5895299" y="428371"/>
                    <a:pt x="5895299" y="956945"/>
                  </a:cubicBezTo>
                  <a:close/>
                </a:path>
              </a:pathLst>
            </a:custGeom>
            <a:solidFill>
              <a:srgbClr val="6FD2E1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7607682" y="3707820"/>
            <a:ext cx="2946421" cy="938114"/>
            <a:chOff x="0" y="0"/>
            <a:chExt cx="6011127" cy="191389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6011127" cy="1913890"/>
            </a:xfrm>
            <a:custGeom>
              <a:avLst/>
              <a:gdLst/>
              <a:ahLst/>
              <a:cxnLst/>
              <a:rect r="r" b="b" t="t" l="l"/>
              <a:pathLst>
                <a:path h="1913890" w="6011127">
                  <a:moveTo>
                    <a:pt x="6011127" y="956945"/>
                  </a:moveTo>
                  <a:cubicBezTo>
                    <a:pt x="6011127" y="1485392"/>
                    <a:pt x="5582756" y="1913890"/>
                    <a:pt x="5054182" y="1913890"/>
                  </a:cubicBezTo>
                  <a:lnTo>
                    <a:pt x="956945" y="1913890"/>
                  </a:lnTo>
                  <a:cubicBezTo>
                    <a:pt x="428371" y="1913890"/>
                    <a:pt x="0" y="1485392"/>
                    <a:pt x="0" y="956945"/>
                  </a:cubicBezTo>
                  <a:cubicBezTo>
                    <a:pt x="0" y="428371"/>
                    <a:pt x="428371" y="0"/>
                    <a:pt x="956945" y="0"/>
                  </a:cubicBezTo>
                  <a:lnTo>
                    <a:pt x="5054182" y="0"/>
                  </a:lnTo>
                  <a:cubicBezTo>
                    <a:pt x="5582629" y="0"/>
                    <a:pt x="6011127" y="428371"/>
                    <a:pt x="6011127" y="956945"/>
                  </a:cubicBezTo>
                  <a:close/>
                </a:path>
              </a:pathLst>
            </a:custGeom>
            <a:solidFill>
              <a:srgbClr val="6FD2E1"/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9186243" y="6028228"/>
            <a:ext cx="3699088" cy="938114"/>
            <a:chOff x="0" y="0"/>
            <a:chExt cx="7546678" cy="191389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7546678" cy="1913890"/>
            </a:xfrm>
            <a:custGeom>
              <a:avLst/>
              <a:gdLst/>
              <a:ahLst/>
              <a:cxnLst/>
              <a:rect r="r" b="b" t="t" l="l"/>
              <a:pathLst>
                <a:path h="1913890" w="7546678">
                  <a:moveTo>
                    <a:pt x="7546678" y="956945"/>
                  </a:moveTo>
                  <a:cubicBezTo>
                    <a:pt x="7546678" y="1485392"/>
                    <a:pt x="7118307" y="1913890"/>
                    <a:pt x="6589733" y="1913890"/>
                  </a:cubicBezTo>
                  <a:lnTo>
                    <a:pt x="956945" y="1913890"/>
                  </a:lnTo>
                  <a:cubicBezTo>
                    <a:pt x="428371" y="1913890"/>
                    <a:pt x="0" y="1485392"/>
                    <a:pt x="0" y="956945"/>
                  </a:cubicBezTo>
                  <a:cubicBezTo>
                    <a:pt x="0" y="428371"/>
                    <a:pt x="428371" y="0"/>
                    <a:pt x="956945" y="0"/>
                  </a:cubicBezTo>
                  <a:lnTo>
                    <a:pt x="6589733" y="0"/>
                  </a:lnTo>
                  <a:cubicBezTo>
                    <a:pt x="7118180" y="0"/>
                    <a:pt x="7546678" y="428371"/>
                    <a:pt x="7546678" y="956945"/>
                  </a:cubicBezTo>
                  <a:close/>
                </a:path>
              </a:pathLst>
            </a:custGeom>
            <a:solidFill>
              <a:srgbClr val="A4E473"/>
            </a:solidFill>
          </p:spPr>
        </p:sp>
      </p:grpSp>
      <p:grpSp>
        <p:nvGrpSpPr>
          <p:cNvPr name="Group 8" id="8"/>
          <p:cNvGrpSpPr/>
          <p:nvPr/>
        </p:nvGrpSpPr>
        <p:grpSpPr>
          <a:xfrm rot="0">
            <a:off x="11289137" y="3718945"/>
            <a:ext cx="3177296" cy="938114"/>
            <a:chOff x="0" y="0"/>
            <a:chExt cx="6482146" cy="191389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6482146" cy="1913890"/>
            </a:xfrm>
            <a:custGeom>
              <a:avLst/>
              <a:gdLst/>
              <a:ahLst/>
              <a:cxnLst/>
              <a:rect r="r" b="b" t="t" l="l"/>
              <a:pathLst>
                <a:path h="1913890" w="6482146">
                  <a:moveTo>
                    <a:pt x="6482146" y="956945"/>
                  </a:moveTo>
                  <a:cubicBezTo>
                    <a:pt x="6482146" y="1485392"/>
                    <a:pt x="6053775" y="1913890"/>
                    <a:pt x="5525201" y="1913890"/>
                  </a:cubicBezTo>
                  <a:lnTo>
                    <a:pt x="956945" y="1913890"/>
                  </a:lnTo>
                  <a:cubicBezTo>
                    <a:pt x="428371" y="1913890"/>
                    <a:pt x="0" y="1485392"/>
                    <a:pt x="0" y="956945"/>
                  </a:cubicBezTo>
                  <a:cubicBezTo>
                    <a:pt x="0" y="428371"/>
                    <a:pt x="428371" y="0"/>
                    <a:pt x="956945" y="0"/>
                  </a:cubicBezTo>
                  <a:lnTo>
                    <a:pt x="5525201" y="0"/>
                  </a:lnTo>
                  <a:cubicBezTo>
                    <a:pt x="6053648" y="0"/>
                    <a:pt x="6482146" y="428371"/>
                    <a:pt x="6482146" y="956945"/>
                  </a:cubicBezTo>
                  <a:close/>
                </a:path>
              </a:pathLst>
            </a:custGeom>
            <a:solidFill>
              <a:srgbClr val="6FD2E1"/>
            </a:solidFill>
          </p:spPr>
        </p:sp>
      </p:grpSp>
      <p:sp>
        <p:nvSpPr>
          <p:cNvPr name="Freeform 10" id="10"/>
          <p:cNvSpPr/>
          <p:nvPr/>
        </p:nvSpPr>
        <p:spPr>
          <a:xfrm flipH="false" flipV="false" rot="0">
            <a:off x="-3529745" y="-1022055"/>
            <a:ext cx="19846242" cy="1299027"/>
          </a:xfrm>
          <a:custGeom>
            <a:avLst/>
            <a:gdLst/>
            <a:ahLst/>
            <a:cxnLst/>
            <a:rect r="r" b="b" t="t" l="l"/>
            <a:pathLst>
              <a:path h="1299027" w="19846242">
                <a:moveTo>
                  <a:pt x="0" y="0"/>
                </a:moveTo>
                <a:lnTo>
                  <a:pt x="19846242" y="0"/>
                </a:lnTo>
                <a:lnTo>
                  <a:pt x="19846242" y="1299027"/>
                </a:lnTo>
                <a:lnTo>
                  <a:pt x="0" y="129902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1" id="11"/>
          <p:cNvGrpSpPr/>
          <p:nvPr/>
        </p:nvGrpSpPr>
        <p:grpSpPr>
          <a:xfrm rot="0">
            <a:off x="16035716" y="-1022055"/>
            <a:ext cx="3423948" cy="2965155"/>
            <a:chOff x="0" y="0"/>
            <a:chExt cx="3619627" cy="3134614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3619627" cy="3134614"/>
            </a:xfrm>
            <a:custGeom>
              <a:avLst/>
              <a:gdLst/>
              <a:ahLst/>
              <a:cxnLst/>
              <a:rect r="r" b="b" t="t" l="l"/>
              <a:pathLst>
                <a:path h="3134614" w="3619627">
                  <a:moveTo>
                    <a:pt x="3619627" y="1567307"/>
                  </a:moveTo>
                  <a:lnTo>
                    <a:pt x="2714752" y="3134614"/>
                  </a:lnTo>
                  <a:lnTo>
                    <a:pt x="904875" y="3134614"/>
                  </a:lnTo>
                  <a:lnTo>
                    <a:pt x="0" y="1567307"/>
                  </a:lnTo>
                  <a:lnTo>
                    <a:pt x="904875" y="0"/>
                  </a:lnTo>
                  <a:lnTo>
                    <a:pt x="2714625" y="0"/>
                  </a:lnTo>
                  <a:lnTo>
                    <a:pt x="3619627" y="1567307"/>
                  </a:lnTo>
                  <a:close/>
                </a:path>
              </a:pathLst>
            </a:custGeom>
            <a:solidFill>
              <a:srgbClr val="004651"/>
            </a:solidFill>
          </p:spPr>
        </p:sp>
      </p:grpSp>
      <p:grpSp>
        <p:nvGrpSpPr>
          <p:cNvPr name="Group 13" id="13"/>
          <p:cNvGrpSpPr/>
          <p:nvPr/>
        </p:nvGrpSpPr>
        <p:grpSpPr>
          <a:xfrm rot="0">
            <a:off x="15373694" y="-355949"/>
            <a:ext cx="1885606" cy="1632943"/>
            <a:chOff x="0" y="0"/>
            <a:chExt cx="3619627" cy="3134614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3619627" cy="3134614"/>
            </a:xfrm>
            <a:custGeom>
              <a:avLst/>
              <a:gdLst/>
              <a:ahLst/>
              <a:cxnLst/>
              <a:rect r="r" b="b" t="t" l="l"/>
              <a:pathLst>
                <a:path h="3134614" w="3619627">
                  <a:moveTo>
                    <a:pt x="3619627" y="1567307"/>
                  </a:moveTo>
                  <a:lnTo>
                    <a:pt x="2714752" y="3134614"/>
                  </a:lnTo>
                  <a:lnTo>
                    <a:pt x="904875" y="3134614"/>
                  </a:lnTo>
                  <a:lnTo>
                    <a:pt x="0" y="1567307"/>
                  </a:lnTo>
                  <a:lnTo>
                    <a:pt x="904875" y="0"/>
                  </a:lnTo>
                  <a:lnTo>
                    <a:pt x="2714625" y="0"/>
                  </a:lnTo>
                  <a:lnTo>
                    <a:pt x="3619627" y="1567307"/>
                  </a:lnTo>
                  <a:close/>
                </a:path>
              </a:pathLst>
            </a:custGeom>
            <a:solidFill>
              <a:srgbClr val="00A181"/>
            </a:solidFill>
          </p:spPr>
        </p:sp>
      </p:grpSp>
      <p:sp>
        <p:nvSpPr>
          <p:cNvPr name="Freeform 15" id="15"/>
          <p:cNvSpPr/>
          <p:nvPr/>
        </p:nvSpPr>
        <p:spPr>
          <a:xfrm flipH="false" flipV="false" rot="2700000">
            <a:off x="5450606" y="5118374"/>
            <a:ext cx="1087687" cy="440513"/>
          </a:xfrm>
          <a:custGeom>
            <a:avLst/>
            <a:gdLst/>
            <a:ahLst/>
            <a:cxnLst/>
            <a:rect r="r" b="b" t="t" l="l"/>
            <a:pathLst>
              <a:path h="440513" w="1087687">
                <a:moveTo>
                  <a:pt x="0" y="0"/>
                </a:moveTo>
                <a:lnTo>
                  <a:pt x="1087688" y="0"/>
                </a:lnTo>
                <a:lnTo>
                  <a:pt x="1087688" y="440514"/>
                </a:lnTo>
                <a:lnTo>
                  <a:pt x="0" y="440514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6" id="16"/>
          <p:cNvSpPr txBox="true"/>
          <p:nvPr/>
        </p:nvSpPr>
        <p:spPr>
          <a:xfrm rot="0">
            <a:off x="6614434" y="1447800"/>
            <a:ext cx="5059131" cy="6445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199"/>
              </a:lnSpc>
              <a:spcBef>
                <a:spcPct val="0"/>
              </a:spcBef>
            </a:pPr>
            <a:r>
              <a:rPr lang="en-US" sz="3999" spc="-39" u="sng">
                <a:solidFill>
                  <a:srgbClr val="000000"/>
                </a:solidFill>
                <a:latin typeface="Fira Sans Medium"/>
                <a:ea typeface="Fira Sans Medium"/>
                <a:cs typeface="Fira Sans Medium"/>
                <a:sym typeface="Fira Sans Medium"/>
              </a:rPr>
              <a:t>Methodology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4189631" y="3826697"/>
            <a:ext cx="2153519" cy="6845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77"/>
              </a:lnSpc>
            </a:pPr>
            <a:r>
              <a:rPr lang="en-US" sz="1983">
                <a:solidFill>
                  <a:srgbClr val="000000"/>
                </a:solidFill>
                <a:latin typeface="Fira Sans Medium"/>
                <a:ea typeface="Fira Sans Medium"/>
                <a:cs typeface="Fira Sans Medium"/>
                <a:sym typeface="Fira Sans Medium"/>
              </a:rPr>
              <a:t>Apply Filtering Methods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7982977" y="3826697"/>
            <a:ext cx="2195830" cy="6845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77"/>
              </a:lnSpc>
            </a:pPr>
            <a:r>
              <a:rPr lang="en-US" sz="1983">
                <a:solidFill>
                  <a:srgbClr val="000000"/>
                </a:solidFill>
                <a:latin typeface="Fira Sans Medium"/>
                <a:ea typeface="Fira Sans Medium"/>
                <a:cs typeface="Fira Sans Medium"/>
                <a:sym typeface="Fira Sans Medium"/>
              </a:rPr>
              <a:t>Calculate Filtering Evaluation Metrics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9657408" y="6147105"/>
            <a:ext cx="2756758" cy="6845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77"/>
              </a:lnSpc>
            </a:pPr>
            <a:r>
              <a:rPr lang="en-US" sz="1983">
                <a:solidFill>
                  <a:srgbClr val="000000"/>
                </a:solidFill>
                <a:latin typeface="Fira Sans Medium"/>
                <a:ea typeface="Fira Sans Medium"/>
                <a:cs typeface="Fira Sans Medium"/>
                <a:sym typeface="Fira Sans Medium"/>
              </a:rPr>
              <a:t>Qualitative Analysis and Comparison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11693307" y="3826697"/>
            <a:ext cx="2384047" cy="66226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67"/>
              </a:lnSpc>
            </a:pPr>
            <a:r>
              <a:rPr lang="en-US" sz="1905">
                <a:solidFill>
                  <a:srgbClr val="000000"/>
                </a:solidFill>
                <a:latin typeface="Fira Sans Medium"/>
                <a:ea typeface="Fira Sans Medium"/>
                <a:cs typeface="Fira Sans Medium"/>
                <a:sym typeface="Fira Sans Medium"/>
              </a:rPr>
              <a:t>Integrate All into One Pipeline</a:t>
            </a:r>
          </a:p>
        </p:txBody>
      </p:sp>
      <p:sp>
        <p:nvSpPr>
          <p:cNvPr name="Freeform 21" id="21"/>
          <p:cNvSpPr/>
          <p:nvPr/>
        </p:nvSpPr>
        <p:spPr>
          <a:xfrm flipH="false" flipV="false" rot="-3463864">
            <a:off x="7540431" y="5219405"/>
            <a:ext cx="1087687" cy="440513"/>
          </a:xfrm>
          <a:custGeom>
            <a:avLst/>
            <a:gdLst/>
            <a:ahLst/>
            <a:cxnLst/>
            <a:rect r="r" b="b" t="t" l="l"/>
            <a:pathLst>
              <a:path h="440513" w="1087687">
                <a:moveTo>
                  <a:pt x="0" y="0"/>
                </a:moveTo>
                <a:lnTo>
                  <a:pt x="1087688" y="0"/>
                </a:lnTo>
                <a:lnTo>
                  <a:pt x="1087688" y="440513"/>
                </a:lnTo>
                <a:lnTo>
                  <a:pt x="0" y="440513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2" id="22"/>
          <p:cNvSpPr/>
          <p:nvPr/>
        </p:nvSpPr>
        <p:spPr>
          <a:xfrm flipH="false" flipV="false" rot="-3463864">
            <a:off x="11102541" y="5219405"/>
            <a:ext cx="1087687" cy="440513"/>
          </a:xfrm>
          <a:custGeom>
            <a:avLst/>
            <a:gdLst/>
            <a:ahLst/>
            <a:cxnLst/>
            <a:rect r="r" b="b" t="t" l="l"/>
            <a:pathLst>
              <a:path h="440513" w="1087687">
                <a:moveTo>
                  <a:pt x="0" y="0"/>
                </a:moveTo>
                <a:lnTo>
                  <a:pt x="1087687" y="0"/>
                </a:lnTo>
                <a:lnTo>
                  <a:pt x="1087687" y="440513"/>
                </a:lnTo>
                <a:lnTo>
                  <a:pt x="0" y="440513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3" id="23"/>
          <p:cNvSpPr/>
          <p:nvPr/>
        </p:nvSpPr>
        <p:spPr>
          <a:xfrm flipH="false" flipV="false" rot="2700000">
            <a:off x="9469959" y="5182264"/>
            <a:ext cx="1087687" cy="440513"/>
          </a:xfrm>
          <a:custGeom>
            <a:avLst/>
            <a:gdLst/>
            <a:ahLst/>
            <a:cxnLst/>
            <a:rect r="r" b="b" t="t" l="l"/>
            <a:pathLst>
              <a:path h="440513" w="1087687">
                <a:moveTo>
                  <a:pt x="0" y="0"/>
                </a:moveTo>
                <a:lnTo>
                  <a:pt x="1087687" y="0"/>
                </a:lnTo>
                <a:lnTo>
                  <a:pt x="1087687" y="440513"/>
                </a:lnTo>
                <a:lnTo>
                  <a:pt x="0" y="440513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24" id="24"/>
          <p:cNvGrpSpPr/>
          <p:nvPr/>
        </p:nvGrpSpPr>
        <p:grpSpPr>
          <a:xfrm rot="0">
            <a:off x="5748544" y="6028228"/>
            <a:ext cx="2490049" cy="938114"/>
            <a:chOff x="0" y="0"/>
            <a:chExt cx="5080062" cy="1913890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5080062" cy="1913890"/>
            </a:xfrm>
            <a:custGeom>
              <a:avLst/>
              <a:gdLst/>
              <a:ahLst/>
              <a:cxnLst/>
              <a:rect r="r" b="b" t="t" l="l"/>
              <a:pathLst>
                <a:path h="1913890" w="5080062">
                  <a:moveTo>
                    <a:pt x="5080062" y="956945"/>
                  </a:moveTo>
                  <a:cubicBezTo>
                    <a:pt x="5080062" y="1485392"/>
                    <a:pt x="4651690" y="1913890"/>
                    <a:pt x="4123117" y="1913890"/>
                  </a:cubicBezTo>
                  <a:lnTo>
                    <a:pt x="956945" y="1913890"/>
                  </a:lnTo>
                  <a:cubicBezTo>
                    <a:pt x="428371" y="1913890"/>
                    <a:pt x="0" y="1485392"/>
                    <a:pt x="0" y="956945"/>
                  </a:cubicBezTo>
                  <a:cubicBezTo>
                    <a:pt x="0" y="428371"/>
                    <a:pt x="428371" y="0"/>
                    <a:pt x="956945" y="0"/>
                  </a:cubicBezTo>
                  <a:lnTo>
                    <a:pt x="4123117" y="0"/>
                  </a:lnTo>
                  <a:cubicBezTo>
                    <a:pt x="4651564" y="0"/>
                    <a:pt x="5080062" y="428371"/>
                    <a:pt x="5080062" y="956945"/>
                  </a:cubicBezTo>
                  <a:close/>
                </a:path>
              </a:pathLst>
            </a:custGeom>
            <a:solidFill>
              <a:srgbClr val="6FD2E1"/>
            </a:solidFill>
          </p:spPr>
        </p:sp>
      </p:grpSp>
      <p:sp>
        <p:nvSpPr>
          <p:cNvPr name="TextBox 26" id="26"/>
          <p:cNvSpPr txBox="true"/>
          <p:nvPr/>
        </p:nvSpPr>
        <p:spPr>
          <a:xfrm rot="0">
            <a:off x="6065710" y="6147105"/>
            <a:ext cx="1855717" cy="6845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77"/>
              </a:lnSpc>
            </a:pPr>
            <a:r>
              <a:rPr lang="en-US" sz="1983">
                <a:solidFill>
                  <a:srgbClr val="000000"/>
                </a:solidFill>
                <a:latin typeface="Fira Sans Medium"/>
                <a:ea typeface="Fira Sans Medium"/>
                <a:cs typeface="Fira Sans Medium"/>
                <a:sym typeface="Fira Sans Medium"/>
              </a:rPr>
              <a:t>Visualize Results</a:t>
            </a:r>
          </a:p>
        </p:txBody>
      </p:sp>
      <p:sp>
        <p:nvSpPr>
          <p:cNvPr name="Freeform 27" id="27"/>
          <p:cNvSpPr/>
          <p:nvPr/>
        </p:nvSpPr>
        <p:spPr>
          <a:xfrm flipH="false" flipV="false" rot="0">
            <a:off x="895169" y="3776715"/>
            <a:ext cx="2031048" cy="822574"/>
          </a:xfrm>
          <a:custGeom>
            <a:avLst/>
            <a:gdLst/>
            <a:ahLst/>
            <a:cxnLst/>
            <a:rect r="r" b="b" t="t" l="l"/>
            <a:pathLst>
              <a:path h="822574" w="2031048">
                <a:moveTo>
                  <a:pt x="0" y="0"/>
                </a:moveTo>
                <a:lnTo>
                  <a:pt x="2031048" y="0"/>
                </a:lnTo>
                <a:lnTo>
                  <a:pt x="2031048" y="822575"/>
                </a:lnTo>
                <a:lnTo>
                  <a:pt x="0" y="822575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1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4F4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3821567" y="3707820"/>
            <a:ext cx="2889646" cy="938114"/>
            <a:chOff x="0" y="0"/>
            <a:chExt cx="5895299" cy="191389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5895299" cy="1913890"/>
            </a:xfrm>
            <a:custGeom>
              <a:avLst/>
              <a:gdLst/>
              <a:ahLst/>
              <a:cxnLst/>
              <a:rect r="r" b="b" t="t" l="l"/>
              <a:pathLst>
                <a:path h="1913890" w="5895299">
                  <a:moveTo>
                    <a:pt x="5895299" y="956945"/>
                  </a:moveTo>
                  <a:cubicBezTo>
                    <a:pt x="5895299" y="1485392"/>
                    <a:pt x="5466928" y="1913890"/>
                    <a:pt x="4938354" y="1913890"/>
                  </a:cubicBezTo>
                  <a:lnTo>
                    <a:pt x="956945" y="1913890"/>
                  </a:lnTo>
                  <a:cubicBezTo>
                    <a:pt x="428371" y="1913890"/>
                    <a:pt x="0" y="1485392"/>
                    <a:pt x="0" y="956945"/>
                  </a:cubicBezTo>
                  <a:cubicBezTo>
                    <a:pt x="0" y="428371"/>
                    <a:pt x="428371" y="0"/>
                    <a:pt x="956945" y="0"/>
                  </a:cubicBezTo>
                  <a:lnTo>
                    <a:pt x="4938354" y="0"/>
                  </a:lnTo>
                  <a:cubicBezTo>
                    <a:pt x="5466802" y="0"/>
                    <a:pt x="5895299" y="428371"/>
                    <a:pt x="5895299" y="956945"/>
                  </a:cubicBezTo>
                  <a:close/>
                </a:path>
              </a:pathLst>
            </a:custGeom>
            <a:solidFill>
              <a:srgbClr val="6FD2E1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7607682" y="3707820"/>
            <a:ext cx="2946421" cy="938114"/>
            <a:chOff x="0" y="0"/>
            <a:chExt cx="6011127" cy="191389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6011127" cy="1913890"/>
            </a:xfrm>
            <a:custGeom>
              <a:avLst/>
              <a:gdLst/>
              <a:ahLst/>
              <a:cxnLst/>
              <a:rect r="r" b="b" t="t" l="l"/>
              <a:pathLst>
                <a:path h="1913890" w="6011127">
                  <a:moveTo>
                    <a:pt x="6011127" y="956945"/>
                  </a:moveTo>
                  <a:cubicBezTo>
                    <a:pt x="6011127" y="1485392"/>
                    <a:pt x="5582756" y="1913890"/>
                    <a:pt x="5054182" y="1913890"/>
                  </a:cubicBezTo>
                  <a:lnTo>
                    <a:pt x="956945" y="1913890"/>
                  </a:lnTo>
                  <a:cubicBezTo>
                    <a:pt x="428371" y="1913890"/>
                    <a:pt x="0" y="1485392"/>
                    <a:pt x="0" y="956945"/>
                  </a:cubicBezTo>
                  <a:cubicBezTo>
                    <a:pt x="0" y="428371"/>
                    <a:pt x="428371" y="0"/>
                    <a:pt x="956945" y="0"/>
                  </a:cubicBezTo>
                  <a:lnTo>
                    <a:pt x="5054182" y="0"/>
                  </a:lnTo>
                  <a:cubicBezTo>
                    <a:pt x="5582629" y="0"/>
                    <a:pt x="6011127" y="428371"/>
                    <a:pt x="6011127" y="956945"/>
                  </a:cubicBezTo>
                  <a:close/>
                </a:path>
              </a:pathLst>
            </a:custGeom>
            <a:solidFill>
              <a:srgbClr val="6FD2E1"/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9186243" y="6028228"/>
            <a:ext cx="3699088" cy="938114"/>
            <a:chOff x="0" y="0"/>
            <a:chExt cx="7546678" cy="191389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7546678" cy="1913890"/>
            </a:xfrm>
            <a:custGeom>
              <a:avLst/>
              <a:gdLst/>
              <a:ahLst/>
              <a:cxnLst/>
              <a:rect r="r" b="b" t="t" l="l"/>
              <a:pathLst>
                <a:path h="1913890" w="7546678">
                  <a:moveTo>
                    <a:pt x="7546678" y="956945"/>
                  </a:moveTo>
                  <a:cubicBezTo>
                    <a:pt x="7546678" y="1485392"/>
                    <a:pt x="7118307" y="1913890"/>
                    <a:pt x="6589733" y="1913890"/>
                  </a:cubicBezTo>
                  <a:lnTo>
                    <a:pt x="956945" y="1913890"/>
                  </a:lnTo>
                  <a:cubicBezTo>
                    <a:pt x="428371" y="1913890"/>
                    <a:pt x="0" y="1485392"/>
                    <a:pt x="0" y="956945"/>
                  </a:cubicBezTo>
                  <a:cubicBezTo>
                    <a:pt x="0" y="428371"/>
                    <a:pt x="428371" y="0"/>
                    <a:pt x="956945" y="0"/>
                  </a:cubicBezTo>
                  <a:lnTo>
                    <a:pt x="6589733" y="0"/>
                  </a:lnTo>
                  <a:cubicBezTo>
                    <a:pt x="7118180" y="0"/>
                    <a:pt x="7546678" y="428371"/>
                    <a:pt x="7546678" y="956945"/>
                  </a:cubicBezTo>
                  <a:close/>
                </a:path>
              </a:pathLst>
            </a:custGeom>
            <a:solidFill>
              <a:srgbClr val="6FD2E1"/>
            </a:solidFill>
          </p:spPr>
        </p:sp>
      </p:grpSp>
      <p:grpSp>
        <p:nvGrpSpPr>
          <p:cNvPr name="Group 8" id="8"/>
          <p:cNvGrpSpPr/>
          <p:nvPr/>
        </p:nvGrpSpPr>
        <p:grpSpPr>
          <a:xfrm rot="0">
            <a:off x="11289137" y="3718945"/>
            <a:ext cx="3177296" cy="938114"/>
            <a:chOff x="0" y="0"/>
            <a:chExt cx="6482146" cy="191389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6482146" cy="1913890"/>
            </a:xfrm>
            <a:custGeom>
              <a:avLst/>
              <a:gdLst/>
              <a:ahLst/>
              <a:cxnLst/>
              <a:rect r="r" b="b" t="t" l="l"/>
              <a:pathLst>
                <a:path h="1913890" w="6482146">
                  <a:moveTo>
                    <a:pt x="6482146" y="956945"/>
                  </a:moveTo>
                  <a:cubicBezTo>
                    <a:pt x="6482146" y="1485392"/>
                    <a:pt x="6053775" y="1913890"/>
                    <a:pt x="5525201" y="1913890"/>
                  </a:cubicBezTo>
                  <a:lnTo>
                    <a:pt x="956945" y="1913890"/>
                  </a:lnTo>
                  <a:cubicBezTo>
                    <a:pt x="428371" y="1913890"/>
                    <a:pt x="0" y="1485392"/>
                    <a:pt x="0" y="956945"/>
                  </a:cubicBezTo>
                  <a:cubicBezTo>
                    <a:pt x="0" y="428371"/>
                    <a:pt x="428371" y="0"/>
                    <a:pt x="956945" y="0"/>
                  </a:cubicBezTo>
                  <a:lnTo>
                    <a:pt x="5525201" y="0"/>
                  </a:lnTo>
                  <a:cubicBezTo>
                    <a:pt x="6053648" y="0"/>
                    <a:pt x="6482146" y="428371"/>
                    <a:pt x="6482146" y="956945"/>
                  </a:cubicBezTo>
                  <a:close/>
                </a:path>
              </a:pathLst>
            </a:custGeom>
            <a:solidFill>
              <a:srgbClr val="A4E473"/>
            </a:solidFill>
          </p:spPr>
        </p:sp>
      </p:grpSp>
      <p:sp>
        <p:nvSpPr>
          <p:cNvPr name="Freeform 10" id="10"/>
          <p:cNvSpPr/>
          <p:nvPr/>
        </p:nvSpPr>
        <p:spPr>
          <a:xfrm flipH="false" flipV="false" rot="0">
            <a:off x="-3529745" y="-1022055"/>
            <a:ext cx="19846242" cy="1299027"/>
          </a:xfrm>
          <a:custGeom>
            <a:avLst/>
            <a:gdLst/>
            <a:ahLst/>
            <a:cxnLst/>
            <a:rect r="r" b="b" t="t" l="l"/>
            <a:pathLst>
              <a:path h="1299027" w="19846242">
                <a:moveTo>
                  <a:pt x="0" y="0"/>
                </a:moveTo>
                <a:lnTo>
                  <a:pt x="19846242" y="0"/>
                </a:lnTo>
                <a:lnTo>
                  <a:pt x="19846242" y="1299027"/>
                </a:lnTo>
                <a:lnTo>
                  <a:pt x="0" y="129902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1" id="11"/>
          <p:cNvGrpSpPr/>
          <p:nvPr/>
        </p:nvGrpSpPr>
        <p:grpSpPr>
          <a:xfrm rot="0">
            <a:off x="16035716" y="-1022055"/>
            <a:ext cx="3423948" cy="2965155"/>
            <a:chOff x="0" y="0"/>
            <a:chExt cx="3619627" cy="3134614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3619627" cy="3134614"/>
            </a:xfrm>
            <a:custGeom>
              <a:avLst/>
              <a:gdLst/>
              <a:ahLst/>
              <a:cxnLst/>
              <a:rect r="r" b="b" t="t" l="l"/>
              <a:pathLst>
                <a:path h="3134614" w="3619627">
                  <a:moveTo>
                    <a:pt x="3619627" y="1567307"/>
                  </a:moveTo>
                  <a:lnTo>
                    <a:pt x="2714752" y="3134614"/>
                  </a:lnTo>
                  <a:lnTo>
                    <a:pt x="904875" y="3134614"/>
                  </a:lnTo>
                  <a:lnTo>
                    <a:pt x="0" y="1567307"/>
                  </a:lnTo>
                  <a:lnTo>
                    <a:pt x="904875" y="0"/>
                  </a:lnTo>
                  <a:lnTo>
                    <a:pt x="2714625" y="0"/>
                  </a:lnTo>
                  <a:lnTo>
                    <a:pt x="3619627" y="1567307"/>
                  </a:lnTo>
                  <a:close/>
                </a:path>
              </a:pathLst>
            </a:custGeom>
            <a:solidFill>
              <a:srgbClr val="004651"/>
            </a:solidFill>
          </p:spPr>
        </p:sp>
      </p:grpSp>
      <p:grpSp>
        <p:nvGrpSpPr>
          <p:cNvPr name="Group 13" id="13"/>
          <p:cNvGrpSpPr/>
          <p:nvPr/>
        </p:nvGrpSpPr>
        <p:grpSpPr>
          <a:xfrm rot="0">
            <a:off x="15373694" y="-355949"/>
            <a:ext cx="1885606" cy="1632943"/>
            <a:chOff x="0" y="0"/>
            <a:chExt cx="3619627" cy="3134614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3619627" cy="3134614"/>
            </a:xfrm>
            <a:custGeom>
              <a:avLst/>
              <a:gdLst/>
              <a:ahLst/>
              <a:cxnLst/>
              <a:rect r="r" b="b" t="t" l="l"/>
              <a:pathLst>
                <a:path h="3134614" w="3619627">
                  <a:moveTo>
                    <a:pt x="3619627" y="1567307"/>
                  </a:moveTo>
                  <a:lnTo>
                    <a:pt x="2714752" y="3134614"/>
                  </a:lnTo>
                  <a:lnTo>
                    <a:pt x="904875" y="3134614"/>
                  </a:lnTo>
                  <a:lnTo>
                    <a:pt x="0" y="1567307"/>
                  </a:lnTo>
                  <a:lnTo>
                    <a:pt x="904875" y="0"/>
                  </a:lnTo>
                  <a:lnTo>
                    <a:pt x="2714625" y="0"/>
                  </a:lnTo>
                  <a:lnTo>
                    <a:pt x="3619627" y="1567307"/>
                  </a:lnTo>
                  <a:close/>
                </a:path>
              </a:pathLst>
            </a:custGeom>
            <a:solidFill>
              <a:srgbClr val="00A181"/>
            </a:solidFill>
          </p:spPr>
        </p:sp>
      </p:grpSp>
      <p:sp>
        <p:nvSpPr>
          <p:cNvPr name="Freeform 15" id="15"/>
          <p:cNvSpPr/>
          <p:nvPr/>
        </p:nvSpPr>
        <p:spPr>
          <a:xfrm flipH="false" flipV="false" rot="2700000">
            <a:off x="5450606" y="5118374"/>
            <a:ext cx="1087687" cy="440513"/>
          </a:xfrm>
          <a:custGeom>
            <a:avLst/>
            <a:gdLst/>
            <a:ahLst/>
            <a:cxnLst/>
            <a:rect r="r" b="b" t="t" l="l"/>
            <a:pathLst>
              <a:path h="440513" w="1087687">
                <a:moveTo>
                  <a:pt x="0" y="0"/>
                </a:moveTo>
                <a:lnTo>
                  <a:pt x="1087688" y="0"/>
                </a:lnTo>
                <a:lnTo>
                  <a:pt x="1087688" y="440514"/>
                </a:lnTo>
                <a:lnTo>
                  <a:pt x="0" y="440514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6" id="16"/>
          <p:cNvSpPr txBox="true"/>
          <p:nvPr/>
        </p:nvSpPr>
        <p:spPr>
          <a:xfrm rot="0">
            <a:off x="6614434" y="1447800"/>
            <a:ext cx="5059131" cy="6445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199"/>
              </a:lnSpc>
              <a:spcBef>
                <a:spcPct val="0"/>
              </a:spcBef>
            </a:pPr>
            <a:r>
              <a:rPr lang="en-US" sz="3999" spc="-39" u="sng">
                <a:solidFill>
                  <a:srgbClr val="000000"/>
                </a:solidFill>
                <a:latin typeface="Fira Sans Medium"/>
                <a:ea typeface="Fira Sans Medium"/>
                <a:cs typeface="Fira Sans Medium"/>
                <a:sym typeface="Fira Sans Medium"/>
              </a:rPr>
              <a:t>Methodology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4189631" y="3826697"/>
            <a:ext cx="2153519" cy="6845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77"/>
              </a:lnSpc>
            </a:pPr>
            <a:r>
              <a:rPr lang="en-US" sz="1983">
                <a:solidFill>
                  <a:srgbClr val="000000"/>
                </a:solidFill>
                <a:latin typeface="Fira Sans Medium"/>
                <a:ea typeface="Fira Sans Medium"/>
                <a:cs typeface="Fira Sans Medium"/>
                <a:sym typeface="Fira Sans Medium"/>
              </a:rPr>
              <a:t>Apply Filtering Methods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7982977" y="3826697"/>
            <a:ext cx="2195830" cy="6845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77"/>
              </a:lnSpc>
            </a:pPr>
            <a:r>
              <a:rPr lang="en-US" sz="1983">
                <a:solidFill>
                  <a:srgbClr val="000000"/>
                </a:solidFill>
                <a:latin typeface="Fira Sans Medium"/>
                <a:ea typeface="Fira Sans Medium"/>
                <a:cs typeface="Fira Sans Medium"/>
                <a:sym typeface="Fira Sans Medium"/>
              </a:rPr>
              <a:t>Calculate Filtering Evaluation Metrics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9657408" y="6147105"/>
            <a:ext cx="2756758" cy="6845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77"/>
              </a:lnSpc>
            </a:pPr>
            <a:r>
              <a:rPr lang="en-US" sz="1983">
                <a:solidFill>
                  <a:srgbClr val="000000"/>
                </a:solidFill>
                <a:latin typeface="Fira Sans Medium"/>
                <a:ea typeface="Fira Sans Medium"/>
                <a:cs typeface="Fira Sans Medium"/>
                <a:sym typeface="Fira Sans Medium"/>
              </a:rPr>
              <a:t>Qualitative Analysis and Comparison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11693307" y="3826697"/>
            <a:ext cx="2384047" cy="66226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67"/>
              </a:lnSpc>
            </a:pPr>
            <a:r>
              <a:rPr lang="en-US" sz="1905">
                <a:solidFill>
                  <a:srgbClr val="000000"/>
                </a:solidFill>
                <a:latin typeface="Fira Sans Medium"/>
                <a:ea typeface="Fira Sans Medium"/>
                <a:cs typeface="Fira Sans Medium"/>
                <a:sym typeface="Fira Sans Medium"/>
              </a:rPr>
              <a:t>Integrate All into One Pipeline</a:t>
            </a:r>
          </a:p>
        </p:txBody>
      </p:sp>
      <p:sp>
        <p:nvSpPr>
          <p:cNvPr name="Freeform 21" id="21"/>
          <p:cNvSpPr/>
          <p:nvPr/>
        </p:nvSpPr>
        <p:spPr>
          <a:xfrm flipH="false" flipV="false" rot="-3463864">
            <a:off x="7540431" y="5219405"/>
            <a:ext cx="1087687" cy="440513"/>
          </a:xfrm>
          <a:custGeom>
            <a:avLst/>
            <a:gdLst/>
            <a:ahLst/>
            <a:cxnLst/>
            <a:rect r="r" b="b" t="t" l="l"/>
            <a:pathLst>
              <a:path h="440513" w="1087687">
                <a:moveTo>
                  <a:pt x="0" y="0"/>
                </a:moveTo>
                <a:lnTo>
                  <a:pt x="1087688" y="0"/>
                </a:lnTo>
                <a:lnTo>
                  <a:pt x="1087688" y="440513"/>
                </a:lnTo>
                <a:lnTo>
                  <a:pt x="0" y="440513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2" id="22"/>
          <p:cNvSpPr/>
          <p:nvPr/>
        </p:nvSpPr>
        <p:spPr>
          <a:xfrm flipH="false" flipV="false" rot="-3463864">
            <a:off x="11102541" y="5219405"/>
            <a:ext cx="1087687" cy="440513"/>
          </a:xfrm>
          <a:custGeom>
            <a:avLst/>
            <a:gdLst/>
            <a:ahLst/>
            <a:cxnLst/>
            <a:rect r="r" b="b" t="t" l="l"/>
            <a:pathLst>
              <a:path h="440513" w="1087687">
                <a:moveTo>
                  <a:pt x="0" y="0"/>
                </a:moveTo>
                <a:lnTo>
                  <a:pt x="1087687" y="0"/>
                </a:lnTo>
                <a:lnTo>
                  <a:pt x="1087687" y="440513"/>
                </a:lnTo>
                <a:lnTo>
                  <a:pt x="0" y="440513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3" id="23"/>
          <p:cNvSpPr/>
          <p:nvPr/>
        </p:nvSpPr>
        <p:spPr>
          <a:xfrm flipH="false" flipV="false" rot="2700000">
            <a:off x="9469959" y="5182264"/>
            <a:ext cx="1087687" cy="440513"/>
          </a:xfrm>
          <a:custGeom>
            <a:avLst/>
            <a:gdLst/>
            <a:ahLst/>
            <a:cxnLst/>
            <a:rect r="r" b="b" t="t" l="l"/>
            <a:pathLst>
              <a:path h="440513" w="1087687">
                <a:moveTo>
                  <a:pt x="0" y="0"/>
                </a:moveTo>
                <a:lnTo>
                  <a:pt x="1087687" y="0"/>
                </a:lnTo>
                <a:lnTo>
                  <a:pt x="1087687" y="440513"/>
                </a:lnTo>
                <a:lnTo>
                  <a:pt x="0" y="440513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24" id="24"/>
          <p:cNvGrpSpPr/>
          <p:nvPr/>
        </p:nvGrpSpPr>
        <p:grpSpPr>
          <a:xfrm rot="0">
            <a:off x="5748544" y="6028228"/>
            <a:ext cx="2490049" cy="938114"/>
            <a:chOff x="0" y="0"/>
            <a:chExt cx="5080062" cy="1913890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5080062" cy="1913890"/>
            </a:xfrm>
            <a:custGeom>
              <a:avLst/>
              <a:gdLst/>
              <a:ahLst/>
              <a:cxnLst/>
              <a:rect r="r" b="b" t="t" l="l"/>
              <a:pathLst>
                <a:path h="1913890" w="5080062">
                  <a:moveTo>
                    <a:pt x="5080062" y="956945"/>
                  </a:moveTo>
                  <a:cubicBezTo>
                    <a:pt x="5080062" y="1485392"/>
                    <a:pt x="4651690" y="1913890"/>
                    <a:pt x="4123117" y="1913890"/>
                  </a:cubicBezTo>
                  <a:lnTo>
                    <a:pt x="956945" y="1913890"/>
                  </a:lnTo>
                  <a:cubicBezTo>
                    <a:pt x="428371" y="1913890"/>
                    <a:pt x="0" y="1485392"/>
                    <a:pt x="0" y="956945"/>
                  </a:cubicBezTo>
                  <a:cubicBezTo>
                    <a:pt x="0" y="428371"/>
                    <a:pt x="428371" y="0"/>
                    <a:pt x="956945" y="0"/>
                  </a:cubicBezTo>
                  <a:lnTo>
                    <a:pt x="4123117" y="0"/>
                  </a:lnTo>
                  <a:cubicBezTo>
                    <a:pt x="4651564" y="0"/>
                    <a:pt x="5080062" y="428371"/>
                    <a:pt x="5080062" y="956945"/>
                  </a:cubicBezTo>
                  <a:close/>
                </a:path>
              </a:pathLst>
            </a:custGeom>
            <a:solidFill>
              <a:srgbClr val="6FD2E1"/>
            </a:solidFill>
          </p:spPr>
        </p:sp>
      </p:grpSp>
      <p:sp>
        <p:nvSpPr>
          <p:cNvPr name="TextBox 26" id="26"/>
          <p:cNvSpPr txBox="true"/>
          <p:nvPr/>
        </p:nvSpPr>
        <p:spPr>
          <a:xfrm rot="0">
            <a:off x="6065710" y="6147105"/>
            <a:ext cx="1855717" cy="6845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77"/>
              </a:lnSpc>
            </a:pPr>
            <a:r>
              <a:rPr lang="en-US" sz="1983">
                <a:solidFill>
                  <a:srgbClr val="000000"/>
                </a:solidFill>
                <a:latin typeface="Fira Sans Medium"/>
                <a:ea typeface="Fira Sans Medium"/>
                <a:cs typeface="Fira Sans Medium"/>
                <a:sym typeface="Fira Sans Medium"/>
              </a:rPr>
              <a:t>Visualize Results</a:t>
            </a:r>
          </a:p>
        </p:txBody>
      </p:sp>
      <p:sp>
        <p:nvSpPr>
          <p:cNvPr name="Freeform 27" id="27"/>
          <p:cNvSpPr/>
          <p:nvPr/>
        </p:nvSpPr>
        <p:spPr>
          <a:xfrm flipH="false" flipV="false" rot="0">
            <a:off x="895169" y="3776715"/>
            <a:ext cx="2031048" cy="822574"/>
          </a:xfrm>
          <a:custGeom>
            <a:avLst/>
            <a:gdLst/>
            <a:ahLst/>
            <a:cxnLst/>
            <a:rect r="r" b="b" t="t" l="l"/>
            <a:pathLst>
              <a:path h="822574" w="2031048">
                <a:moveTo>
                  <a:pt x="0" y="0"/>
                </a:moveTo>
                <a:lnTo>
                  <a:pt x="2031048" y="0"/>
                </a:lnTo>
                <a:lnTo>
                  <a:pt x="2031048" y="822575"/>
                </a:lnTo>
                <a:lnTo>
                  <a:pt x="0" y="822575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20.xml><?xml version="1.0" encoding="utf-8"?>
<p:sld xmlns:p="http://schemas.openxmlformats.org/presentationml/2006/main" xmlns:a="http://schemas.openxmlformats.org/drawingml/2006/main">
  <p:cSld>
    <p:bg>
      <p:bgPr>
        <a:solidFill>
          <a:srgbClr val="F4F4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-10800000">
            <a:off x="-1190761" y="6705016"/>
            <a:ext cx="2765875" cy="2395261"/>
            <a:chOff x="0" y="0"/>
            <a:chExt cx="3619627" cy="3134614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3619627" cy="3134614"/>
            </a:xfrm>
            <a:custGeom>
              <a:avLst/>
              <a:gdLst/>
              <a:ahLst/>
              <a:cxnLst/>
              <a:rect r="r" b="b" t="t" l="l"/>
              <a:pathLst>
                <a:path h="3134614" w="3619627">
                  <a:moveTo>
                    <a:pt x="3619627" y="1567307"/>
                  </a:moveTo>
                  <a:lnTo>
                    <a:pt x="2714752" y="3134614"/>
                  </a:lnTo>
                  <a:lnTo>
                    <a:pt x="904875" y="3134614"/>
                  </a:lnTo>
                  <a:lnTo>
                    <a:pt x="0" y="1567307"/>
                  </a:lnTo>
                  <a:lnTo>
                    <a:pt x="904875" y="0"/>
                  </a:lnTo>
                  <a:lnTo>
                    <a:pt x="2714625" y="0"/>
                  </a:lnTo>
                  <a:lnTo>
                    <a:pt x="3619627" y="1567307"/>
                  </a:lnTo>
                  <a:close/>
                </a:path>
              </a:pathLst>
            </a:custGeom>
            <a:solidFill>
              <a:srgbClr val="004651"/>
            </a:solidFill>
          </p:spPr>
        </p:sp>
      </p:grpSp>
      <p:grpSp>
        <p:nvGrpSpPr>
          <p:cNvPr name="Group 4" id="4"/>
          <p:cNvGrpSpPr/>
          <p:nvPr/>
        </p:nvGrpSpPr>
        <p:grpSpPr>
          <a:xfrm rot="-10800000">
            <a:off x="-1358551" y="9258300"/>
            <a:ext cx="2987730" cy="2587388"/>
            <a:chOff x="0" y="0"/>
            <a:chExt cx="3619627" cy="3134614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3619627" cy="3134614"/>
            </a:xfrm>
            <a:custGeom>
              <a:avLst/>
              <a:gdLst/>
              <a:ahLst/>
              <a:cxnLst/>
              <a:rect r="r" b="b" t="t" l="l"/>
              <a:pathLst>
                <a:path h="3134614" w="3619627">
                  <a:moveTo>
                    <a:pt x="3619627" y="1567307"/>
                  </a:moveTo>
                  <a:lnTo>
                    <a:pt x="2714752" y="3134614"/>
                  </a:lnTo>
                  <a:lnTo>
                    <a:pt x="904875" y="3134614"/>
                  </a:lnTo>
                  <a:lnTo>
                    <a:pt x="0" y="1567307"/>
                  </a:lnTo>
                  <a:lnTo>
                    <a:pt x="904875" y="0"/>
                  </a:lnTo>
                  <a:lnTo>
                    <a:pt x="2714625" y="0"/>
                  </a:lnTo>
                  <a:lnTo>
                    <a:pt x="3619627" y="1567307"/>
                  </a:lnTo>
                  <a:close/>
                </a:path>
              </a:pathLst>
            </a:custGeom>
            <a:solidFill>
              <a:srgbClr val="00A181"/>
            </a:solidFill>
          </p:spPr>
        </p:sp>
      </p:grpSp>
      <p:grpSp>
        <p:nvGrpSpPr>
          <p:cNvPr name="Group 6" id="6"/>
          <p:cNvGrpSpPr/>
          <p:nvPr/>
        </p:nvGrpSpPr>
        <p:grpSpPr>
          <a:xfrm rot="-10800000">
            <a:off x="1028700" y="8173576"/>
            <a:ext cx="2357967" cy="2042010"/>
            <a:chOff x="0" y="0"/>
            <a:chExt cx="3619627" cy="3134614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3619627" cy="3134614"/>
            </a:xfrm>
            <a:custGeom>
              <a:avLst/>
              <a:gdLst/>
              <a:ahLst/>
              <a:cxnLst/>
              <a:rect r="r" b="b" t="t" l="l"/>
              <a:pathLst>
                <a:path h="3134614" w="3619627">
                  <a:moveTo>
                    <a:pt x="3619627" y="1567307"/>
                  </a:moveTo>
                  <a:lnTo>
                    <a:pt x="2714752" y="3134614"/>
                  </a:lnTo>
                  <a:lnTo>
                    <a:pt x="904875" y="3134614"/>
                  </a:lnTo>
                  <a:lnTo>
                    <a:pt x="0" y="1567307"/>
                  </a:lnTo>
                  <a:lnTo>
                    <a:pt x="904875" y="0"/>
                  </a:lnTo>
                  <a:lnTo>
                    <a:pt x="2714625" y="0"/>
                  </a:lnTo>
                  <a:lnTo>
                    <a:pt x="3619627" y="1567307"/>
                  </a:lnTo>
                  <a:close/>
                </a:path>
              </a:pathLst>
            </a:custGeom>
            <a:solidFill>
              <a:srgbClr val="A4E473"/>
            </a:solidFill>
          </p:spPr>
        </p:sp>
      </p:grpSp>
      <p:sp>
        <p:nvSpPr>
          <p:cNvPr name="TextBox 8" id="8"/>
          <p:cNvSpPr txBox="true"/>
          <p:nvPr/>
        </p:nvSpPr>
        <p:spPr>
          <a:xfrm rot="0">
            <a:off x="0" y="4113697"/>
            <a:ext cx="18288000" cy="9239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200"/>
              </a:lnSpc>
              <a:spcBef>
                <a:spcPct val="0"/>
              </a:spcBef>
            </a:pPr>
            <a:r>
              <a:rPr lang="en-US" sz="6000" spc="-60">
                <a:solidFill>
                  <a:srgbClr val="000000"/>
                </a:solidFill>
                <a:latin typeface="Fira Sans Medium"/>
                <a:ea typeface="Fira Sans Medium"/>
                <a:cs typeface="Fira Sans Medium"/>
                <a:sym typeface="Fira Sans Medium"/>
              </a:rPr>
              <a:t>Thank You</a:t>
            </a:r>
          </a:p>
        </p:txBody>
      </p:sp>
      <p:grpSp>
        <p:nvGrpSpPr>
          <p:cNvPr name="Group 9" id="9"/>
          <p:cNvGrpSpPr/>
          <p:nvPr/>
        </p:nvGrpSpPr>
        <p:grpSpPr>
          <a:xfrm rot="-10800000">
            <a:off x="14658658" y="-1318968"/>
            <a:ext cx="2765875" cy="2395261"/>
            <a:chOff x="0" y="0"/>
            <a:chExt cx="3619627" cy="3134614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3619627" cy="3134614"/>
            </a:xfrm>
            <a:custGeom>
              <a:avLst/>
              <a:gdLst/>
              <a:ahLst/>
              <a:cxnLst/>
              <a:rect r="r" b="b" t="t" l="l"/>
              <a:pathLst>
                <a:path h="3134614" w="3619627">
                  <a:moveTo>
                    <a:pt x="3619627" y="1567307"/>
                  </a:moveTo>
                  <a:lnTo>
                    <a:pt x="2714752" y="3134614"/>
                  </a:lnTo>
                  <a:lnTo>
                    <a:pt x="904875" y="3134614"/>
                  </a:lnTo>
                  <a:lnTo>
                    <a:pt x="0" y="1567307"/>
                  </a:lnTo>
                  <a:lnTo>
                    <a:pt x="904875" y="0"/>
                  </a:lnTo>
                  <a:lnTo>
                    <a:pt x="2714625" y="0"/>
                  </a:lnTo>
                  <a:lnTo>
                    <a:pt x="3619627" y="1567307"/>
                  </a:lnTo>
                  <a:close/>
                </a:path>
              </a:pathLst>
            </a:custGeom>
            <a:solidFill>
              <a:srgbClr val="004651"/>
            </a:solidFill>
          </p:spPr>
        </p:sp>
      </p:grpSp>
      <p:grpSp>
        <p:nvGrpSpPr>
          <p:cNvPr name="Group 11" id="11"/>
          <p:cNvGrpSpPr/>
          <p:nvPr/>
        </p:nvGrpSpPr>
        <p:grpSpPr>
          <a:xfrm rot="-10800000">
            <a:off x="14490867" y="1234316"/>
            <a:ext cx="2987730" cy="2587388"/>
            <a:chOff x="0" y="0"/>
            <a:chExt cx="3619627" cy="3134614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3619627" cy="3134614"/>
            </a:xfrm>
            <a:custGeom>
              <a:avLst/>
              <a:gdLst/>
              <a:ahLst/>
              <a:cxnLst/>
              <a:rect r="r" b="b" t="t" l="l"/>
              <a:pathLst>
                <a:path h="3134614" w="3619627">
                  <a:moveTo>
                    <a:pt x="3619627" y="1567307"/>
                  </a:moveTo>
                  <a:lnTo>
                    <a:pt x="2714752" y="3134614"/>
                  </a:lnTo>
                  <a:lnTo>
                    <a:pt x="904875" y="3134614"/>
                  </a:lnTo>
                  <a:lnTo>
                    <a:pt x="0" y="1567307"/>
                  </a:lnTo>
                  <a:lnTo>
                    <a:pt x="904875" y="0"/>
                  </a:lnTo>
                  <a:lnTo>
                    <a:pt x="2714625" y="0"/>
                  </a:lnTo>
                  <a:lnTo>
                    <a:pt x="3619627" y="1567307"/>
                  </a:lnTo>
                  <a:close/>
                </a:path>
              </a:pathLst>
            </a:custGeom>
            <a:solidFill>
              <a:srgbClr val="00A181"/>
            </a:solidFill>
          </p:spPr>
        </p:sp>
      </p:grpSp>
      <p:grpSp>
        <p:nvGrpSpPr>
          <p:cNvPr name="Group 13" id="13"/>
          <p:cNvGrpSpPr/>
          <p:nvPr/>
        </p:nvGrpSpPr>
        <p:grpSpPr>
          <a:xfrm rot="-10800000">
            <a:off x="16878119" y="149592"/>
            <a:ext cx="2357967" cy="2042010"/>
            <a:chOff x="0" y="0"/>
            <a:chExt cx="3619627" cy="3134614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3619627" cy="3134614"/>
            </a:xfrm>
            <a:custGeom>
              <a:avLst/>
              <a:gdLst/>
              <a:ahLst/>
              <a:cxnLst/>
              <a:rect r="r" b="b" t="t" l="l"/>
              <a:pathLst>
                <a:path h="3134614" w="3619627">
                  <a:moveTo>
                    <a:pt x="3619627" y="1567307"/>
                  </a:moveTo>
                  <a:lnTo>
                    <a:pt x="2714752" y="3134614"/>
                  </a:lnTo>
                  <a:lnTo>
                    <a:pt x="904875" y="3134614"/>
                  </a:lnTo>
                  <a:lnTo>
                    <a:pt x="0" y="1567307"/>
                  </a:lnTo>
                  <a:lnTo>
                    <a:pt x="904875" y="0"/>
                  </a:lnTo>
                  <a:lnTo>
                    <a:pt x="2714625" y="0"/>
                  </a:lnTo>
                  <a:lnTo>
                    <a:pt x="3619627" y="1567307"/>
                  </a:lnTo>
                  <a:close/>
                </a:path>
              </a:pathLst>
            </a:custGeom>
            <a:solidFill>
              <a:srgbClr val="A4E473"/>
            </a:solidFill>
          </p:spPr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DAG-TI5KIR0</dc:identifier>
  <dcterms:modified xsi:type="dcterms:W3CDTF">2011-08-01T06:04:30Z</dcterms:modified>
  <cp:revision>1</cp:revision>
  <dc:title>Proposal Presentation</dc:title>
</cp:coreProperties>
</file>